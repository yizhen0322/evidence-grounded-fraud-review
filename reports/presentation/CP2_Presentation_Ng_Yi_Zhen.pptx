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My project is about credit-card fraud alert review, but the main contribution is not a new fraud-detection algorithm. The detector is treated as the model that produces the fraud score, and SHAP reason codes are treated as the evidence explaining that score. The local LLM is only allowed to translate that evidence into a short review brief. If the generated text changes, loses, or invents evidence, a deterministic validator rejects it and the system falls back to the original evidence. So the project studies a controlled explanation-delivery boundary: what can safely reach an analyst, what must be rejected, and how this can be measured.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has two parts. First, credit-card fraud is a rare-event classification problem, so a useful detector must be evaluated with AP, precision, recall, F1, and confusion counts rather than headline accuracy. Second, explanation is a separate risk. The literature already shows that readable narrative explanations can be useful, but faithfulness remains difficult. AlMarri highlights mismatches between LLM explanation and SHAP evidence, Zytek shows the value of narrative explanation, and Rebedea motivates programmable guardrails. My project focuses on the gap between those ideas: can local generated text be constrained, measured, and rejected when it violates the model evidence?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has two research questions. RQ1 is about the guardrail and fallback mechanism: when the LLM output violates the contract, can the system detect that and prevent delivery? RQ2 is about what the LLM actually adds or loses in an analyst-facing workflow. I use two evidence contexts. The European ULB dataset is the real anonymised benchmark and keeps the work connected to the approved CP1 fraud-detection task. However, its V1 to V28 features are anonymous, so it is limited for business-readable explanation. S0 is a synthetic stream informed by Fraud Detection Handbook concepts, used to test semantic explanation behaviour with readable fields. The two are not directly compared as detector results.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methodology is designed around leakage control and provenance. The source data are checked and deduplicated before modelling, and stable case IDs are used for joins across later artifacts. Splitting happens before preprocessing or feature construction, so scaling, SMOTE, autoencoder fitting, and threshold selection do not use test data. The detector benchmark produces logged metrics and predictions. The selected detector is then frozen and explained with signed SHAP reason codes. The local LLM receives only a minimized reason-code package, and the validator decides whether to deliver it or fall back. Finally, the workbench consumes the exact recorded artifacts rather than recalculating model logic.</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detector benchmark, I evaluated six groups over five fixed seeds. G0 is the original-feature XGBoost reference. G1 adds SMOTE to the training set only. G2 adds autoencoder reconstruction error. G3 combines reconstruction error and SMOTE. G6 uses cost-sensitive XGBoost through `scale_pos_weight`, and G7 uses the autoencoder latent features. This part is important because the explanation layer must be based on a reproducible detector, but I do not claim algorithmic novelty here. The detector stage supplies the frozen model evidence for the later explanation experiment.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detector findings are mixed. G6 had the highest mean AP, but its advantage over G0 was very small. G2 had the best mean F1, and G7 had the best mean recall. G6 was strongest on precision and false positives, which made it a defensible downstream evidence source, but it was not clearly stronger across all metrics. This is an important critical point. The autoencoder variants did not show a clear added value over the original-feature baseline. Therefore, I present the detector comparison as a disciplined supporting benchmark, not as proof that the hybrid detector is better.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explanation boundary is the central design. G4 produces signed reason codes from SHAP. These reason codes state which features pushed the detector score toward fraud or legitimacy. The LLM does not receive the full transaction, exact feature values, historical labels, detector probabilities, or SHAP magnitudes. It only receives a minimized evidence package. The experiment then separates two policies. OFF policy measures the raw text returned by the model. ON policy sends that exact same text through the validator. If it fails, the delivered output is generated from the original reason codes, not repaired from the LLM text. This prevents a normalizer from hiding generation failures.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guardrail results show why validation matters. Under the strict prompt, two of the 51 raw ULB outputs had a detected violation, so both fell back. Under the simple prompt, every output violated the accepted contract, so no simple-arm narrative was delivered. The 0/49 detected rate among delivered strict narratives is expected from the policy, but I also completed a separate blinded manual review of all 49 delivered narratives. I found no semantic violation against their supplied evidence, giving a 95% Wilson interval from zero to 7.27%. This is stronger than relying on the validator alone, although it remains a single-reviewer result and is not universal proof.</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 addresses the limitation of anonymous ULB features. It is synthetic, so I do not treat it as real-bank validation, but it gives readable evidence such as amount compared with the customer's recent behaviour, terminal distance, night-time status, and terminal fraud risk. On the frozen S0 test period, the detector had AP 0.544 and F1 0.514. The explanation comparison used the 25 selected alerts, which in this run were exactly the above-threshold cases. The workbench opens on one queue with source labels, so S0 and ULB are visible in the same application without mixing their score scales. The application supports review, evidence inspection, validation display, fallback, and local workflow notes.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important S0 finding is that the LLM did not add analytical detail. In this design, it was not allowed to invent new evidence. It was given two permitted summary options: a detailed option naming all three evidence items and a shorter option naming the leading signal. All accepted LLM outputs selected the shorter option. That made them more compact, but less complete than the deterministic brief. The two outputs that attempted the detailed route corrupted structured fields and were rejected. In the human pilot, participants more often selected the LLM brief as clearest and preferred for first pass, but the deterministic brief was selected most often as trustworthy. The deterministic brief remains the trusted baseline, while the LLM is only an optional articulation layer.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human evaluation gives a useful but bounded result. Eleven proxy reviewers completed 99 synthetic case reviews, so I treat the findings descriptively rather than as a formal analyst-productivity claim. The objective comprehension checks did not favour the guarded LLM brief. In fact, its point estimates were lower for leading evidence, direction, and evidence count. However, participants still tended to choose the guarded LLM brief as the clearest and preferred first-pass format. The deterministic brief was most often chosen as the most trustworthy. This separates readability from trust and evidence retention. It supports the design decision that readable LLM text should not replace the deterministic evidence layer.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conclusion is that the project contributes a verifiable explanation-delivery boundary, not a new fraud detector and not an open-ended generative explanation system. The detector benchmark is reproducible but does not show a clear autoencoder advantage. The explanation experiments show that raw local-LLM behaviour must be measured separately from what is delivered to the analyst. The fallback design preserves evidence when validation fails. A blinded manual review found no semantic violation in the 49 delivered strict-arm narratives, although the 7.27% upper confidence bound and single-reviewer design remain important limits. The human pilot adds a separate caution: people may prefer the more readable LLM-style brief, but that does not mean it is more complete or more trustworthy. The societal value is prospective: the design may reduce unsupported explanation exposure by making fallback visible. Environmentally, the deterministic baseline means the LLM can be disabled or avoided when not needed, but I did not measure energy or carbon impact. The next steps are to replicate the audit with independent reviewers, test professional analyst use, compare additional local models, and apply the boundary to real interpretable fraud data.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172200" cy="6858000"/>
          </a:xfrm>
          <a:prstGeom prst="rect">
            <a:avLst/>
          </a:prstGeom>
          <a:solidFill>
            <a:srgbClr val="10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85800"/>
            <a:ext cx="4800600" cy="365760"/>
          </a:xfrm>
          <a:prstGeom prst="rect">
            <a:avLst/>
          </a:prstGeom>
          <a:noFill/>
        </p:spPr>
        <p:txBody>
          <a:bodyPr wrap="none" lIns="25400" rIns="25400" tIns="12700" bIns="12700" anchor="t">
            <a:spAutoFit/>
          </a:bodyPr>
          <a:lstStyle/>
          <a:p>
            <a:pPr algn="l"/>
            <a:r>
              <a:rPr sz="1200" b="1">
                <a:solidFill>
                  <a:srgbClr val="A7C9E8"/>
                </a:solidFill>
                <a:latin typeface="Aptos"/>
              </a:rPr>
              <a:t>SUNWAY UNIVERSITY | CAPSTONE PROJECT 2</a:t>
            </a:r>
          </a:p>
        </p:txBody>
      </p:sp>
      <p:sp>
        <p:nvSpPr>
          <p:cNvPr id="4" name="TextBox 3"/>
          <p:cNvSpPr txBox="1"/>
          <p:nvPr/>
        </p:nvSpPr>
        <p:spPr>
          <a:xfrm>
            <a:off x="640080" y="1325880"/>
            <a:ext cx="4892040" cy="1965960"/>
          </a:xfrm>
          <a:prstGeom prst="rect">
            <a:avLst/>
          </a:prstGeom>
          <a:noFill/>
        </p:spPr>
        <p:txBody>
          <a:bodyPr wrap="none" lIns="25400" rIns="25400" tIns="12700" bIns="12700" anchor="t">
            <a:spAutoFit/>
          </a:bodyPr>
          <a:lstStyle/>
          <a:p>
            <a:pPr algn="l"/>
            <a:r>
              <a:rPr sz="2900" b="1">
                <a:solidFill>
                  <a:srgbClr val="FFFFFF"/>
                </a:solidFill>
                <a:latin typeface="Aptos"/>
              </a:rPr>
              <a:t>Evidence-Grounded
Local-LLM Explanations
for Fraud Alert Review</a:t>
            </a:r>
          </a:p>
        </p:txBody>
      </p:sp>
      <p:sp>
        <p:nvSpPr>
          <p:cNvPr id="5" name="TextBox 4"/>
          <p:cNvSpPr txBox="1"/>
          <p:nvPr/>
        </p:nvSpPr>
        <p:spPr>
          <a:xfrm>
            <a:off x="658368" y="3657600"/>
            <a:ext cx="4709160" cy="914400"/>
          </a:xfrm>
          <a:prstGeom prst="rect">
            <a:avLst/>
          </a:prstGeom>
          <a:noFill/>
        </p:spPr>
        <p:txBody>
          <a:bodyPr wrap="none" lIns="25400" rIns="25400" tIns="12700" bIns="12700" anchor="t">
            <a:spAutoFit/>
          </a:bodyPr>
          <a:lstStyle/>
          <a:p>
            <a:pPr algn="l"/>
            <a:r>
              <a:rPr sz="1800" b="0">
                <a:solidFill>
                  <a:srgbClr val="DAE4EE"/>
                </a:solidFill>
                <a:latin typeface="Aptos"/>
              </a:rPr>
              <a:t>A fail-closed explanation delivery boundary built on detector evidence, SHAP reason codes, deterministic validation, and fallback.</a:t>
            </a:r>
          </a:p>
        </p:txBody>
      </p:sp>
      <p:sp>
        <p:nvSpPr>
          <p:cNvPr id="6" name="TextBox 5"/>
          <p:cNvSpPr txBox="1"/>
          <p:nvPr/>
        </p:nvSpPr>
        <p:spPr>
          <a:xfrm>
            <a:off x="658368" y="5806440"/>
            <a:ext cx="4572000" cy="457200"/>
          </a:xfrm>
          <a:prstGeom prst="rect">
            <a:avLst/>
          </a:prstGeom>
          <a:noFill/>
        </p:spPr>
        <p:txBody>
          <a:bodyPr wrap="none" lIns="25400" rIns="25400" tIns="12700" bIns="12700" anchor="t">
            <a:spAutoFit/>
          </a:bodyPr>
          <a:lstStyle/>
          <a:p>
            <a:pPr algn="l"/>
            <a:r>
              <a:rPr sz="1600" b="1">
                <a:solidFill>
                  <a:srgbClr val="FFFFFF"/>
                </a:solidFill>
                <a:latin typeface="Aptos"/>
              </a:rPr>
              <a:t>Ng Yi Zhen | 23076003</a:t>
            </a:r>
          </a:p>
        </p:txBody>
      </p:sp>
      <p:pic>
        <p:nvPicPr>
          <p:cNvPr id="7" name="Picture 6" descr="workbench_queue.png"/>
          <p:cNvPicPr>
            <a:picLocks noChangeAspect="1"/>
          </p:cNvPicPr>
          <p:nvPr/>
        </p:nvPicPr>
        <p:blipFill>
          <a:blip r:embed="rId2"/>
          <a:stretch>
            <a:fillRect/>
          </a:stretch>
        </p:blipFill>
        <p:spPr>
          <a:xfrm>
            <a:off x="6355080" y="1660207"/>
            <a:ext cx="5440680" cy="3400425"/>
          </a:xfrm>
          <a:prstGeom prst="rect">
            <a:avLst/>
          </a:prstGeom>
        </p:spPr>
      </p:pic>
      <p:sp>
        <p:nvSpPr>
          <p:cNvPr id="8" name="TextBox 7"/>
          <p:cNvSpPr txBox="1"/>
          <p:nvPr/>
        </p:nvSpPr>
        <p:spPr>
          <a:xfrm>
            <a:off x="6675120" y="6199632"/>
            <a:ext cx="4754880" cy="256032"/>
          </a:xfrm>
          <a:prstGeom prst="rect">
            <a:avLst/>
          </a:prstGeom>
          <a:noFill/>
        </p:spPr>
        <p:txBody>
          <a:bodyPr wrap="none" lIns="25400" rIns="25400" tIns="12700" bIns="12700" anchor="t">
            <a:spAutoFit/>
          </a:bodyPr>
          <a:lstStyle/>
          <a:p>
            <a:pPr algn="ctr"/>
            <a:r>
              <a:rPr sz="1000" b="0">
                <a:solidFill>
                  <a:srgbClr val="5C6979"/>
                </a:solidFill>
                <a:latin typeface="Aptos"/>
              </a:rPr>
              <a:t>Local analyst workbench using frozen, source-labelled evidence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49808"/>
          </a:xfrm>
          <a:prstGeom prst="rect">
            <a:avLst/>
          </a:prstGeom>
          <a:solidFill>
            <a:srgbClr val="10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698480" cy="402336"/>
          </a:xfrm>
          <a:prstGeom prst="rect">
            <a:avLst/>
          </a:prstGeom>
          <a:noFill/>
        </p:spPr>
        <p:txBody>
          <a:bodyPr wrap="none" lIns="25400" rIns="25400" tIns="12700" bIns="12700" anchor="t">
            <a:spAutoFit/>
          </a:bodyPr>
          <a:lstStyle/>
          <a:p>
            <a:pPr algn="l"/>
            <a:r>
              <a:rPr sz="2400" b="1">
                <a:solidFill>
                  <a:srgbClr val="FFFFFF"/>
                </a:solidFill>
                <a:latin typeface="Aptos"/>
              </a:rPr>
              <a:t>Problem and Motivation</a:t>
            </a:r>
          </a:p>
        </p:txBody>
      </p:sp>
      <p:sp>
        <p:nvSpPr>
          <p:cNvPr id="4" name="TextBox 3"/>
          <p:cNvSpPr txBox="1"/>
          <p:nvPr/>
        </p:nvSpPr>
        <p:spPr>
          <a:xfrm>
            <a:off x="11292840" y="173736"/>
            <a:ext cx="384048" cy="347472"/>
          </a:xfrm>
          <a:prstGeom prst="rect">
            <a:avLst/>
          </a:prstGeom>
          <a:noFill/>
        </p:spPr>
        <p:txBody>
          <a:bodyPr wrap="none" lIns="25400" rIns="25400" tIns="12700" bIns="12700" anchor="t">
            <a:spAutoFit/>
          </a:bodyPr>
          <a:lstStyle/>
          <a:p>
            <a:pPr algn="r"/>
            <a:r>
              <a:rPr sz="1500" b="1">
                <a:solidFill>
                  <a:srgbClr val="FFFFFF"/>
                </a:solidFill>
                <a:latin typeface="Aptos"/>
              </a:rPr>
              <a:t>02</a:t>
            </a:r>
          </a:p>
        </p:txBody>
      </p:sp>
      <p:sp>
        <p:nvSpPr>
          <p:cNvPr id="5" name="Rectangle 4"/>
          <p:cNvSpPr/>
          <p:nvPr/>
        </p:nvSpPr>
        <p:spPr>
          <a:xfrm>
            <a:off x="502920" y="6556248"/>
            <a:ext cx="11155680" cy="12700"/>
          </a:xfrm>
          <a:prstGeom prst="rect">
            <a:avLst/>
          </a:prstGeom>
          <a:solidFill>
            <a:srgbClr val="D1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601968"/>
            <a:ext cx="5303520" cy="182880"/>
          </a:xfrm>
          <a:prstGeom prst="rect">
            <a:avLst/>
          </a:prstGeom>
          <a:noFill/>
        </p:spPr>
        <p:txBody>
          <a:bodyPr wrap="none" lIns="25400" rIns="25400" tIns="12700" bIns="12700" anchor="t">
            <a:spAutoFit/>
          </a:bodyPr>
          <a:lstStyle/>
          <a:p>
            <a:pPr algn="l"/>
            <a:r>
              <a:rPr sz="900" b="0">
                <a:solidFill>
                  <a:srgbClr val="5C6979"/>
                </a:solidFill>
                <a:latin typeface="Aptos"/>
              </a:rPr>
              <a:t>Evidence-grounded local-LLM fraud alert review</a:t>
            </a:r>
          </a:p>
        </p:txBody>
      </p:sp>
      <p:sp>
        <p:nvSpPr>
          <p:cNvPr id="7" name="TextBox 6"/>
          <p:cNvSpPr txBox="1"/>
          <p:nvPr/>
        </p:nvSpPr>
        <p:spPr>
          <a:xfrm>
            <a:off x="594360" y="914400"/>
            <a:ext cx="4069080" cy="5257800"/>
          </a:xfrm>
          <a:prstGeom prst="rect">
            <a:avLst/>
          </a:prstGeom>
          <a:noFill/>
        </p:spPr>
        <p:txBody>
          <a:bodyPr wrap="square" lIns="50800" rIns="50800">
            <a:spAutoFit/>
          </a:bodyPr>
          <a:lstStyle/>
          <a:p>
            <a:pPr marL="254000" indent="-203200">
              <a:lnSpc>
                <a:spcPct val="105000"/>
              </a:lnSpc>
              <a:spcAft>
                <a:spcPts val="1000"/>
              </a:spcAft>
              <a:defRPr sz="1800">
                <a:solidFill>
                  <a:srgbClr val="1F2937"/>
                </a:solidFill>
                <a:latin typeface="Aptos"/>
              </a:defRPr>
            </a:pPr>
            <a:r>
              <a:t>•  Fraud detection is highly imbalanced; accuracy is misleading.</a:t>
            </a:r>
          </a:p>
          <a:p>
            <a:pPr marL="254000" indent="-203200">
              <a:lnSpc>
                <a:spcPct val="105000"/>
              </a:lnSpc>
              <a:spcAft>
                <a:spcPts val="1000"/>
              </a:spcAft>
              <a:defRPr sz="1800">
                <a:solidFill>
                  <a:srgbClr val="1F2937"/>
                </a:solidFill>
                <a:latin typeface="Aptos"/>
              </a:defRPr>
            </a:pPr>
            <a:r>
              <a:t>•  Explanations can mislead if generated text is treated as evidence.</a:t>
            </a:r>
          </a:p>
          <a:p>
            <a:pPr marL="254000" indent="-203200">
              <a:lnSpc>
                <a:spcPct val="105000"/>
              </a:lnSpc>
              <a:spcAft>
                <a:spcPts val="1000"/>
              </a:spcAft>
              <a:defRPr sz="1800">
                <a:solidFill>
                  <a:srgbClr val="1F2937"/>
                </a:solidFill>
                <a:latin typeface="Aptos"/>
              </a:defRPr>
            </a:pPr>
            <a:r>
              <a:t>•  Prior work shows the need for faithful narrative explanation, not just readable prose.</a:t>
            </a:r>
          </a:p>
          <a:p>
            <a:pPr marL="254000" indent="-203200">
              <a:lnSpc>
                <a:spcPct val="105000"/>
              </a:lnSpc>
              <a:spcAft>
                <a:spcPts val="1000"/>
              </a:spcAft>
              <a:defRPr sz="1800">
                <a:solidFill>
                  <a:srgbClr val="1F2937"/>
                </a:solidFill>
                <a:latin typeface="Aptos"/>
              </a:defRPr>
            </a:pPr>
            <a:r>
              <a:t>•  Local LLMs may reduce external exposure, but local generation can still drift from evidence.</a:t>
            </a:r>
          </a:p>
          <a:p>
            <a:pPr marL="254000" indent="-203200">
              <a:lnSpc>
                <a:spcPct val="105000"/>
              </a:lnSpc>
              <a:spcAft>
                <a:spcPts val="1000"/>
              </a:spcAft>
              <a:defRPr sz="1800">
                <a:solidFill>
                  <a:srgbClr val="1F2937"/>
                </a:solidFill>
                <a:latin typeface="Aptos"/>
              </a:defRPr>
            </a:pPr>
            <a:r>
              <a:t>•  The project asks how to keep generated explanations inside the model-evidence contract.</a:t>
            </a:r>
          </a:p>
        </p:txBody>
      </p:sp>
      <p:sp>
        <p:nvSpPr>
          <p:cNvPr id="8" name="Rounded Rectangle 7"/>
          <p:cNvSpPr/>
          <p:nvPr/>
        </p:nvSpPr>
        <p:spPr>
          <a:xfrm>
            <a:off x="5074920" y="1051560"/>
            <a:ext cx="1417320" cy="2011680"/>
          </a:xfrm>
          <a:prstGeom prst="roundRect">
            <a:avLst/>
          </a:prstGeom>
          <a:solidFill>
            <a:srgbClr val="EFF4F8"/>
          </a:solidFill>
          <a:ln>
            <a:solidFill>
              <a:srgbClr val="CD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221224" y="1179576"/>
            <a:ext cx="1124712" cy="292608"/>
          </a:xfrm>
          <a:prstGeom prst="rect">
            <a:avLst/>
          </a:prstGeom>
          <a:noFill/>
        </p:spPr>
        <p:txBody>
          <a:bodyPr wrap="none" lIns="25400" rIns="25400" tIns="12700" bIns="12700" anchor="t">
            <a:spAutoFit/>
          </a:bodyPr>
          <a:lstStyle/>
          <a:p>
            <a:pPr algn="l"/>
            <a:r>
              <a:rPr sz="1100" b="1">
                <a:solidFill>
                  <a:srgbClr val="2463AB"/>
                </a:solidFill>
                <a:latin typeface="Aptos"/>
              </a:rPr>
              <a:t>Rare-event detection</a:t>
            </a:r>
          </a:p>
        </p:txBody>
      </p:sp>
      <p:sp>
        <p:nvSpPr>
          <p:cNvPr id="10" name="TextBox 9"/>
          <p:cNvSpPr txBox="1"/>
          <p:nvPr/>
        </p:nvSpPr>
        <p:spPr>
          <a:xfrm>
            <a:off x="5221224" y="1545336"/>
            <a:ext cx="1124712" cy="1389888"/>
          </a:xfrm>
          <a:prstGeom prst="rect">
            <a:avLst/>
          </a:prstGeom>
          <a:noFill/>
        </p:spPr>
        <p:txBody>
          <a:bodyPr wrap="none" lIns="25400" rIns="25400" tIns="12700" bIns="12700" anchor="t">
            <a:spAutoFit/>
          </a:bodyPr>
          <a:lstStyle/>
          <a:p>
            <a:pPr algn="l"/>
            <a:r>
              <a:rPr sz="800" b="0">
                <a:solidFill>
                  <a:srgbClr val="1F2937"/>
                </a:solidFill>
                <a:latin typeface="Aptos"/>
              </a:rPr>
              <a:t>Accuracy hides the fraud minority; AP, recall, precision, and F1 matter.</a:t>
            </a:r>
          </a:p>
        </p:txBody>
      </p:sp>
      <p:sp>
        <p:nvSpPr>
          <p:cNvPr id="11" name="TextBox 10"/>
          <p:cNvSpPr txBox="1"/>
          <p:nvPr/>
        </p:nvSpPr>
        <p:spPr>
          <a:xfrm>
            <a:off x="6519672" y="1856232"/>
            <a:ext cx="292608" cy="256032"/>
          </a:xfrm>
          <a:prstGeom prst="rect">
            <a:avLst/>
          </a:prstGeom>
          <a:noFill/>
        </p:spPr>
        <p:txBody>
          <a:bodyPr wrap="none" lIns="25400" rIns="25400" tIns="12700" bIns="12700" anchor="t">
            <a:spAutoFit/>
          </a:bodyPr>
          <a:lstStyle/>
          <a:p>
            <a:pPr algn="ctr"/>
            <a:r>
              <a:rPr sz="1800" b="1">
                <a:solidFill>
                  <a:srgbClr val="5C6979"/>
                </a:solidFill>
                <a:latin typeface="Aptos"/>
              </a:rPr>
              <a:t>→</a:t>
            </a:r>
          </a:p>
        </p:txBody>
      </p:sp>
      <p:sp>
        <p:nvSpPr>
          <p:cNvPr id="12" name="Rounded Rectangle 11"/>
          <p:cNvSpPr/>
          <p:nvPr/>
        </p:nvSpPr>
        <p:spPr>
          <a:xfrm>
            <a:off x="6720840" y="1051560"/>
            <a:ext cx="1417320" cy="2011680"/>
          </a:xfrm>
          <a:prstGeom prst="roundRect">
            <a:avLst/>
          </a:prstGeom>
          <a:solidFill>
            <a:srgbClr val="EFF4F8"/>
          </a:solidFill>
          <a:ln>
            <a:solidFill>
              <a:srgbClr val="CD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67144" y="1179576"/>
            <a:ext cx="1124712" cy="292608"/>
          </a:xfrm>
          <a:prstGeom prst="rect">
            <a:avLst/>
          </a:prstGeom>
          <a:noFill/>
        </p:spPr>
        <p:txBody>
          <a:bodyPr wrap="none" lIns="25400" rIns="25400" tIns="12700" bIns="12700" anchor="t">
            <a:spAutoFit/>
          </a:bodyPr>
          <a:lstStyle/>
          <a:p>
            <a:pPr algn="l"/>
            <a:r>
              <a:rPr sz="1100" b="1">
                <a:solidFill>
                  <a:srgbClr val="107D70"/>
                </a:solidFill>
                <a:latin typeface="Aptos"/>
              </a:rPr>
              <a:t>Technical attribution</a:t>
            </a:r>
          </a:p>
        </p:txBody>
      </p:sp>
      <p:sp>
        <p:nvSpPr>
          <p:cNvPr id="14" name="TextBox 13"/>
          <p:cNvSpPr txBox="1"/>
          <p:nvPr/>
        </p:nvSpPr>
        <p:spPr>
          <a:xfrm>
            <a:off x="6867144" y="1545336"/>
            <a:ext cx="1124712" cy="1389888"/>
          </a:xfrm>
          <a:prstGeom prst="rect">
            <a:avLst/>
          </a:prstGeom>
          <a:noFill/>
        </p:spPr>
        <p:txBody>
          <a:bodyPr wrap="none" lIns="25400" rIns="25400" tIns="12700" bIns="12700" anchor="t">
            <a:spAutoFit/>
          </a:bodyPr>
          <a:lstStyle/>
          <a:p>
            <a:pPr algn="l"/>
            <a:r>
              <a:rPr sz="800" b="0">
                <a:solidFill>
                  <a:srgbClr val="1F2937"/>
                </a:solidFill>
                <a:latin typeface="Aptos"/>
              </a:rPr>
              <a:t>SHAP gives signed model evidence, but raw attribution is not analyst prose.</a:t>
            </a:r>
          </a:p>
        </p:txBody>
      </p:sp>
      <p:sp>
        <p:nvSpPr>
          <p:cNvPr id="15" name="TextBox 14"/>
          <p:cNvSpPr txBox="1"/>
          <p:nvPr/>
        </p:nvSpPr>
        <p:spPr>
          <a:xfrm>
            <a:off x="8165592" y="1856232"/>
            <a:ext cx="292608" cy="256032"/>
          </a:xfrm>
          <a:prstGeom prst="rect">
            <a:avLst/>
          </a:prstGeom>
          <a:noFill/>
        </p:spPr>
        <p:txBody>
          <a:bodyPr wrap="none" lIns="25400" rIns="25400" tIns="12700" bIns="12700" anchor="t">
            <a:spAutoFit/>
          </a:bodyPr>
          <a:lstStyle/>
          <a:p>
            <a:pPr algn="ctr"/>
            <a:r>
              <a:rPr sz="1800" b="1">
                <a:solidFill>
                  <a:srgbClr val="5C6979"/>
                </a:solidFill>
                <a:latin typeface="Aptos"/>
              </a:rPr>
              <a:t>→</a:t>
            </a:r>
          </a:p>
        </p:txBody>
      </p:sp>
      <p:sp>
        <p:nvSpPr>
          <p:cNvPr id="16" name="Rounded Rectangle 15"/>
          <p:cNvSpPr/>
          <p:nvPr/>
        </p:nvSpPr>
        <p:spPr>
          <a:xfrm>
            <a:off x="8366760" y="1051560"/>
            <a:ext cx="1417320" cy="2011680"/>
          </a:xfrm>
          <a:prstGeom prst="roundRect">
            <a:avLst/>
          </a:prstGeom>
          <a:solidFill>
            <a:srgbClr val="EFF4F8"/>
          </a:solidFill>
          <a:ln>
            <a:solidFill>
              <a:srgbClr val="CD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13064" y="1179576"/>
            <a:ext cx="1124712" cy="292608"/>
          </a:xfrm>
          <a:prstGeom prst="rect">
            <a:avLst/>
          </a:prstGeom>
          <a:noFill/>
        </p:spPr>
        <p:txBody>
          <a:bodyPr wrap="none" lIns="25400" rIns="25400" tIns="12700" bIns="12700" anchor="t">
            <a:spAutoFit/>
          </a:bodyPr>
          <a:lstStyle/>
          <a:p>
            <a:pPr algn="l"/>
            <a:r>
              <a:rPr sz="1100" b="1">
                <a:solidFill>
                  <a:srgbClr val="CA7736"/>
                </a:solidFill>
                <a:latin typeface="Aptos"/>
              </a:rPr>
              <a:t>Narrative risk</a:t>
            </a:r>
          </a:p>
        </p:txBody>
      </p:sp>
      <p:sp>
        <p:nvSpPr>
          <p:cNvPr id="18" name="TextBox 17"/>
          <p:cNvSpPr txBox="1"/>
          <p:nvPr/>
        </p:nvSpPr>
        <p:spPr>
          <a:xfrm>
            <a:off x="8513064" y="1545336"/>
            <a:ext cx="1124712" cy="1389888"/>
          </a:xfrm>
          <a:prstGeom prst="rect">
            <a:avLst/>
          </a:prstGeom>
          <a:noFill/>
        </p:spPr>
        <p:txBody>
          <a:bodyPr wrap="none" lIns="25400" rIns="25400" tIns="12700" bIns="12700" anchor="t">
            <a:spAutoFit/>
          </a:bodyPr>
          <a:lstStyle/>
          <a:p>
            <a:pPr algn="l"/>
            <a:r>
              <a:rPr sz="800" b="0">
                <a:solidFill>
                  <a:srgbClr val="1F2937"/>
                </a:solidFill>
                <a:latin typeface="Aptos"/>
              </a:rPr>
              <a:t>LLM text may omit, add, or reverse evidence if delivered unchecked.</a:t>
            </a:r>
          </a:p>
        </p:txBody>
      </p:sp>
      <p:sp>
        <p:nvSpPr>
          <p:cNvPr id="19" name="TextBox 18"/>
          <p:cNvSpPr txBox="1"/>
          <p:nvPr/>
        </p:nvSpPr>
        <p:spPr>
          <a:xfrm>
            <a:off x="9811512" y="1856232"/>
            <a:ext cx="292608" cy="256032"/>
          </a:xfrm>
          <a:prstGeom prst="rect">
            <a:avLst/>
          </a:prstGeom>
          <a:noFill/>
        </p:spPr>
        <p:txBody>
          <a:bodyPr wrap="none" lIns="25400" rIns="25400" tIns="12700" bIns="12700" anchor="t">
            <a:spAutoFit/>
          </a:bodyPr>
          <a:lstStyle/>
          <a:p>
            <a:pPr algn="ctr"/>
            <a:r>
              <a:rPr sz="1800" b="1">
                <a:solidFill>
                  <a:srgbClr val="5C6979"/>
                </a:solidFill>
                <a:latin typeface="Aptos"/>
              </a:rPr>
              <a:t>→</a:t>
            </a:r>
          </a:p>
        </p:txBody>
      </p:sp>
      <p:sp>
        <p:nvSpPr>
          <p:cNvPr id="20" name="Rounded Rectangle 19"/>
          <p:cNvSpPr/>
          <p:nvPr/>
        </p:nvSpPr>
        <p:spPr>
          <a:xfrm>
            <a:off x="10012680" y="1051560"/>
            <a:ext cx="1417320" cy="2011680"/>
          </a:xfrm>
          <a:prstGeom prst="roundRect">
            <a:avLst/>
          </a:prstGeom>
          <a:solidFill>
            <a:srgbClr val="EFF4F8"/>
          </a:solidFill>
          <a:ln>
            <a:solidFill>
              <a:srgbClr val="CD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158984" y="1179576"/>
            <a:ext cx="1124712" cy="292608"/>
          </a:xfrm>
          <a:prstGeom prst="rect">
            <a:avLst/>
          </a:prstGeom>
          <a:noFill/>
        </p:spPr>
        <p:txBody>
          <a:bodyPr wrap="none" lIns="25400" rIns="25400" tIns="12700" bIns="12700" anchor="t">
            <a:spAutoFit/>
          </a:bodyPr>
          <a:lstStyle/>
          <a:p>
            <a:pPr algn="l"/>
            <a:r>
              <a:rPr sz="1100" b="1">
                <a:solidFill>
                  <a:srgbClr val="101F34"/>
                </a:solidFill>
                <a:latin typeface="Aptos"/>
              </a:rPr>
              <a:t>Controlled delivery</a:t>
            </a:r>
          </a:p>
        </p:txBody>
      </p:sp>
      <p:sp>
        <p:nvSpPr>
          <p:cNvPr id="22" name="TextBox 21"/>
          <p:cNvSpPr txBox="1"/>
          <p:nvPr/>
        </p:nvSpPr>
        <p:spPr>
          <a:xfrm>
            <a:off x="10158984" y="1545336"/>
            <a:ext cx="1124712" cy="1389888"/>
          </a:xfrm>
          <a:prstGeom prst="rect">
            <a:avLst/>
          </a:prstGeom>
          <a:noFill/>
        </p:spPr>
        <p:txBody>
          <a:bodyPr wrap="none" lIns="25400" rIns="25400" tIns="12700" bIns="12700" anchor="t">
            <a:spAutoFit/>
          </a:bodyPr>
          <a:lstStyle/>
          <a:p>
            <a:pPr algn="l"/>
            <a:r>
              <a:rPr sz="800" b="0">
                <a:solidFill>
                  <a:srgbClr val="1F2937"/>
                </a:solidFill>
                <a:latin typeface="Aptos"/>
              </a:rPr>
              <a:t>Deterministic guardrails either accept the brief or return fallback evidence.</a:t>
            </a:r>
          </a:p>
        </p:txBody>
      </p:sp>
      <p:sp>
        <p:nvSpPr>
          <p:cNvPr id="23" name="Rounded Rectangle 22"/>
          <p:cNvSpPr/>
          <p:nvPr/>
        </p:nvSpPr>
        <p:spPr>
          <a:xfrm>
            <a:off x="5212080" y="3794760"/>
            <a:ext cx="6172200" cy="1143000"/>
          </a:xfrm>
          <a:prstGeom prst="roundRect">
            <a:avLst/>
          </a:prstGeom>
          <a:solidFill>
            <a:srgbClr val="EFF4F8"/>
          </a:solidFill>
          <a:ln>
            <a:solidFill>
              <a:srgbClr val="CD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58384" y="3922776"/>
            <a:ext cx="5879592" cy="292608"/>
          </a:xfrm>
          <a:prstGeom prst="rect">
            <a:avLst/>
          </a:prstGeom>
          <a:noFill/>
        </p:spPr>
        <p:txBody>
          <a:bodyPr wrap="none" lIns="25400" rIns="25400" tIns="12700" bIns="12700" anchor="t">
            <a:spAutoFit/>
          </a:bodyPr>
          <a:lstStyle/>
          <a:p>
            <a:pPr algn="l"/>
            <a:r>
              <a:rPr sz="1300" b="1">
                <a:solidFill>
                  <a:srgbClr val="B53737"/>
                </a:solidFill>
                <a:latin typeface="Aptos"/>
              </a:rPr>
              <a:t>Visible literature gap</a:t>
            </a:r>
          </a:p>
        </p:txBody>
      </p:sp>
      <p:sp>
        <p:nvSpPr>
          <p:cNvPr id="25" name="TextBox 24"/>
          <p:cNvSpPr txBox="1"/>
          <p:nvPr/>
        </p:nvSpPr>
        <p:spPr>
          <a:xfrm>
            <a:off x="5358384" y="4288536"/>
            <a:ext cx="5879592" cy="521208"/>
          </a:xfrm>
          <a:prstGeom prst="rect">
            <a:avLst/>
          </a:prstGeom>
          <a:noFill/>
        </p:spPr>
        <p:txBody>
          <a:bodyPr wrap="none" lIns="25400" rIns="25400" tIns="12700" bIns="12700" anchor="t">
            <a:spAutoFit/>
          </a:bodyPr>
          <a:lstStyle/>
          <a:p>
            <a:pPr algn="l"/>
            <a:r>
              <a:rPr sz="1100" b="0">
                <a:solidFill>
                  <a:srgbClr val="1F2937"/>
                </a:solidFill>
                <a:latin typeface="Aptos"/>
              </a:rPr>
              <a:t>AlMarri (2025): SHAP-faithfulness concern • Zytek (2024): narrative explanations • Rebedea (2023): programmable guardrails</a:t>
            </a:r>
          </a:p>
        </p:txBody>
      </p:sp>
      <p:sp>
        <p:nvSpPr>
          <p:cNvPr id="26" name="TextBox 25"/>
          <p:cNvSpPr txBox="1"/>
          <p:nvPr/>
        </p:nvSpPr>
        <p:spPr>
          <a:xfrm>
            <a:off x="5440680" y="5349240"/>
            <a:ext cx="5669280" cy="320040"/>
          </a:xfrm>
          <a:prstGeom prst="rect">
            <a:avLst/>
          </a:prstGeom>
          <a:noFill/>
        </p:spPr>
        <p:txBody>
          <a:bodyPr wrap="none" lIns="25400" rIns="25400" tIns="12700" bIns="12700" anchor="t">
            <a:spAutoFit/>
          </a:bodyPr>
          <a:lstStyle/>
          <a:p>
            <a:pPr algn="ctr"/>
            <a:r>
              <a:rPr sz="1300" b="0">
                <a:solidFill>
                  <a:srgbClr val="5C6979"/>
                </a:solidFill>
                <a:latin typeface="Aptos"/>
              </a:rPr>
              <a:t>This project measures the delivery boundary between evidence and generated articulation.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49808"/>
          </a:xfrm>
          <a:prstGeom prst="rect">
            <a:avLst/>
          </a:prstGeom>
          <a:solidFill>
            <a:srgbClr val="10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698480" cy="402336"/>
          </a:xfrm>
          <a:prstGeom prst="rect">
            <a:avLst/>
          </a:prstGeom>
          <a:noFill/>
        </p:spPr>
        <p:txBody>
          <a:bodyPr wrap="none" lIns="25400" rIns="25400" tIns="12700" bIns="12700" anchor="t">
            <a:spAutoFit/>
          </a:bodyPr>
          <a:lstStyle/>
          <a:p>
            <a:pPr algn="l"/>
            <a:r>
              <a:rPr sz="2400" b="1">
                <a:solidFill>
                  <a:srgbClr val="FFFFFF"/>
                </a:solidFill>
                <a:latin typeface="Aptos"/>
              </a:rPr>
              <a:t>Research Questions and Evidence Roles</a:t>
            </a:r>
          </a:p>
        </p:txBody>
      </p:sp>
      <p:sp>
        <p:nvSpPr>
          <p:cNvPr id="4" name="TextBox 3"/>
          <p:cNvSpPr txBox="1"/>
          <p:nvPr/>
        </p:nvSpPr>
        <p:spPr>
          <a:xfrm>
            <a:off x="11292840" y="173736"/>
            <a:ext cx="384048" cy="347472"/>
          </a:xfrm>
          <a:prstGeom prst="rect">
            <a:avLst/>
          </a:prstGeom>
          <a:noFill/>
        </p:spPr>
        <p:txBody>
          <a:bodyPr wrap="none" lIns="25400" rIns="25400" tIns="12700" bIns="12700" anchor="t">
            <a:spAutoFit/>
          </a:bodyPr>
          <a:lstStyle/>
          <a:p>
            <a:pPr algn="r"/>
            <a:r>
              <a:rPr sz="1500" b="1">
                <a:solidFill>
                  <a:srgbClr val="FFFFFF"/>
                </a:solidFill>
                <a:latin typeface="Aptos"/>
              </a:rPr>
              <a:t>03</a:t>
            </a:r>
          </a:p>
        </p:txBody>
      </p:sp>
      <p:sp>
        <p:nvSpPr>
          <p:cNvPr id="5" name="Rectangle 4"/>
          <p:cNvSpPr/>
          <p:nvPr/>
        </p:nvSpPr>
        <p:spPr>
          <a:xfrm>
            <a:off x="502920" y="6556248"/>
            <a:ext cx="11155680" cy="12700"/>
          </a:xfrm>
          <a:prstGeom prst="rect">
            <a:avLst/>
          </a:prstGeom>
          <a:solidFill>
            <a:srgbClr val="D1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601968"/>
            <a:ext cx="5303520" cy="182880"/>
          </a:xfrm>
          <a:prstGeom prst="rect">
            <a:avLst/>
          </a:prstGeom>
          <a:noFill/>
        </p:spPr>
        <p:txBody>
          <a:bodyPr wrap="none" lIns="25400" rIns="25400" tIns="12700" bIns="12700" anchor="t">
            <a:spAutoFit/>
          </a:bodyPr>
          <a:lstStyle/>
          <a:p>
            <a:pPr algn="l"/>
            <a:r>
              <a:rPr sz="900" b="0">
                <a:solidFill>
                  <a:srgbClr val="5C6979"/>
                </a:solidFill>
                <a:latin typeface="Aptos"/>
              </a:rPr>
              <a:t>Evidence-grounded local-LLM fraud alert review</a:t>
            </a:r>
          </a:p>
        </p:txBody>
      </p:sp>
      <p:sp>
        <p:nvSpPr>
          <p:cNvPr id="7" name="TextBox 6"/>
          <p:cNvSpPr txBox="1"/>
          <p:nvPr/>
        </p:nvSpPr>
        <p:spPr>
          <a:xfrm>
            <a:off x="594360" y="868680"/>
            <a:ext cx="4023360" cy="5532120"/>
          </a:xfrm>
          <a:prstGeom prst="rect">
            <a:avLst/>
          </a:prstGeom>
          <a:noFill/>
        </p:spPr>
        <p:txBody>
          <a:bodyPr wrap="square" lIns="50800" rIns="50800">
            <a:spAutoFit/>
          </a:bodyPr>
          <a:lstStyle/>
          <a:p>
            <a:pPr marL="254000" indent="-203200">
              <a:lnSpc>
                <a:spcPct val="105000"/>
              </a:lnSpc>
              <a:spcAft>
                <a:spcPts val="1000"/>
              </a:spcAft>
              <a:defRPr sz="1400">
                <a:solidFill>
                  <a:srgbClr val="1F2937"/>
                </a:solidFill>
                <a:latin typeface="Aptos"/>
              </a:defRPr>
            </a:pPr>
            <a:r>
              <a:t>•  RQ1: How effectively do deterministic guardrails detect local-LLM output violations and enforce fallback?</a:t>
            </a:r>
          </a:p>
          <a:p>
            <a:pPr marL="254000" indent="-203200">
              <a:lnSpc>
                <a:spcPct val="105000"/>
              </a:lnSpc>
              <a:spcAft>
                <a:spcPts val="1000"/>
              </a:spcAft>
              <a:defRPr sz="1400">
                <a:solidFill>
                  <a:srgbClr val="1F2937"/>
                </a:solidFill>
                <a:latin typeface="Aptos"/>
              </a:defRPr>
            </a:pPr>
            <a:r>
              <a:t>•  RQ2: What does guarded local-LLM delivery add, preserve, or lose compared with SHAP reason codes and deterministic briefs?</a:t>
            </a:r>
          </a:p>
          <a:p>
            <a:pPr marL="254000" indent="-203200">
              <a:lnSpc>
                <a:spcPct val="105000"/>
              </a:lnSpc>
              <a:spcAft>
                <a:spcPts val="1000"/>
              </a:spcAft>
              <a:defRPr sz="1400">
                <a:solidFill>
                  <a:srgbClr val="1F2937"/>
                </a:solidFill>
                <a:latin typeface="Aptos"/>
              </a:defRPr>
            </a:pPr>
            <a:r>
              <a:t>•  ULB is the real anonymised benchmark and anonymous-feature prompt stress test.</a:t>
            </a:r>
          </a:p>
          <a:p>
            <a:pPr marL="254000" indent="-203200">
              <a:lnSpc>
                <a:spcPct val="105000"/>
              </a:lnSpc>
              <a:spcAft>
                <a:spcPts val="1000"/>
              </a:spcAft>
              <a:defRPr sz="1400">
                <a:solidFill>
                  <a:srgbClr val="1F2937"/>
                </a:solidFill>
                <a:latin typeface="Aptos"/>
              </a:defRPr>
            </a:pPr>
            <a:r>
              <a:t>•  S0 is the synthetic readable-feature study for semantic and operational evaluation.</a:t>
            </a:r>
          </a:p>
          <a:p>
            <a:pPr marL="254000" indent="-203200">
              <a:lnSpc>
                <a:spcPct val="105000"/>
              </a:lnSpc>
              <a:spcAft>
                <a:spcPts val="1000"/>
              </a:spcAft>
              <a:defRPr sz="1400">
                <a:solidFill>
                  <a:srgbClr val="1F2937"/>
                </a:solidFill>
                <a:latin typeface="Aptos"/>
              </a:defRPr>
            </a:pPr>
            <a:r>
              <a:t>•  They are two evidence roles in one study, not two competing detector datasets.</a:t>
            </a:r>
          </a:p>
          <a:p>
            <a:pPr marL="254000" indent="-203200">
              <a:lnSpc>
                <a:spcPct val="105000"/>
              </a:lnSpc>
              <a:spcAft>
                <a:spcPts val="1000"/>
              </a:spcAft>
              <a:defRPr sz="1400">
                <a:solidFill>
                  <a:srgbClr val="1F2937"/>
                </a:solidFill>
                <a:latin typeface="Aptos"/>
              </a:defRPr>
            </a:pPr>
            <a:r>
              <a:t>•  S0 follows Fraud Detection Handbook concepts to make feature semantics inspectable.</a:t>
            </a:r>
          </a:p>
        </p:txBody>
      </p:sp>
      <p:sp>
        <p:nvSpPr>
          <p:cNvPr id="8" name="Rounded Rectangle 7"/>
          <p:cNvSpPr/>
          <p:nvPr/>
        </p:nvSpPr>
        <p:spPr>
          <a:xfrm>
            <a:off x="5212080" y="1005840"/>
            <a:ext cx="2880360" cy="4023360"/>
          </a:xfrm>
          <a:prstGeom prst="roundRect">
            <a:avLst/>
          </a:prstGeom>
          <a:solidFill>
            <a:srgbClr val="EFF4F8"/>
          </a:solidFill>
          <a:ln>
            <a:solidFill>
              <a:srgbClr val="CD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58384" y="1133856"/>
            <a:ext cx="2587752" cy="292608"/>
          </a:xfrm>
          <a:prstGeom prst="rect">
            <a:avLst/>
          </a:prstGeom>
          <a:noFill/>
        </p:spPr>
        <p:txBody>
          <a:bodyPr wrap="none" lIns="25400" rIns="25400" tIns="12700" bIns="12700" anchor="t">
            <a:spAutoFit/>
          </a:bodyPr>
          <a:lstStyle/>
          <a:p>
            <a:pPr algn="l"/>
            <a:r>
              <a:rPr sz="1600" b="1">
                <a:solidFill>
                  <a:srgbClr val="2463AB"/>
                </a:solidFill>
                <a:latin typeface="Aptos"/>
              </a:rPr>
              <a:t>ULB benchmark</a:t>
            </a:r>
          </a:p>
        </p:txBody>
      </p:sp>
      <p:sp>
        <p:nvSpPr>
          <p:cNvPr id="10" name="TextBox 9"/>
          <p:cNvSpPr txBox="1"/>
          <p:nvPr/>
        </p:nvSpPr>
        <p:spPr>
          <a:xfrm>
            <a:off x="5358384" y="1499616"/>
            <a:ext cx="2587752" cy="3401568"/>
          </a:xfrm>
          <a:prstGeom prst="rect">
            <a:avLst/>
          </a:prstGeom>
          <a:noFill/>
        </p:spPr>
        <p:txBody>
          <a:bodyPr wrap="none" lIns="25400" rIns="25400" tIns="12700" bIns="12700" anchor="t">
            <a:spAutoFit/>
          </a:bodyPr>
          <a:lstStyle/>
          <a:p>
            <a:pPr algn="l"/>
            <a:r>
              <a:rPr sz="1200" b="0">
                <a:solidFill>
                  <a:srgbClr val="1F2937"/>
                </a:solidFill>
                <a:latin typeface="Aptos"/>
              </a:rPr>
              <a:t>Real anonymised credit-card data
Role: detector benchmark, SHAP chain, anonymous-feature prompt stress test
Boundary: no readable business semantics</a:t>
            </a:r>
          </a:p>
        </p:txBody>
      </p:sp>
      <p:sp>
        <p:nvSpPr>
          <p:cNvPr id="11" name="Rounded Rectangle 10"/>
          <p:cNvSpPr/>
          <p:nvPr/>
        </p:nvSpPr>
        <p:spPr>
          <a:xfrm>
            <a:off x="8366760" y="1005840"/>
            <a:ext cx="2880360" cy="4023360"/>
          </a:xfrm>
          <a:prstGeom prst="roundRect">
            <a:avLst/>
          </a:prstGeom>
          <a:solidFill>
            <a:srgbClr val="EFF4F8"/>
          </a:solidFill>
          <a:ln>
            <a:solidFill>
              <a:srgbClr val="CD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13064" y="1133856"/>
            <a:ext cx="2587752" cy="292608"/>
          </a:xfrm>
          <a:prstGeom prst="rect">
            <a:avLst/>
          </a:prstGeom>
          <a:noFill/>
        </p:spPr>
        <p:txBody>
          <a:bodyPr wrap="none" lIns="25400" rIns="25400" tIns="12700" bIns="12700" anchor="t">
            <a:spAutoFit/>
          </a:bodyPr>
          <a:lstStyle/>
          <a:p>
            <a:pPr algn="l"/>
            <a:r>
              <a:rPr sz="1600" b="1">
                <a:solidFill>
                  <a:srgbClr val="107D70"/>
                </a:solidFill>
                <a:latin typeface="Aptos"/>
              </a:rPr>
              <a:t>S0 semantic study</a:t>
            </a:r>
          </a:p>
        </p:txBody>
      </p:sp>
      <p:sp>
        <p:nvSpPr>
          <p:cNvPr id="13" name="TextBox 12"/>
          <p:cNvSpPr txBox="1"/>
          <p:nvPr/>
        </p:nvSpPr>
        <p:spPr>
          <a:xfrm>
            <a:off x="8513064" y="1499616"/>
            <a:ext cx="2587752" cy="3401568"/>
          </a:xfrm>
          <a:prstGeom prst="rect">
            <a:avLst/>
          </a:prstGeom>
          <a:noFill/>
        </p:spPr>
        <p:txBody>
          <a:bodyPr wrap="none" lIns="25400" rIns="25400" tIns="12700" bIns="12700" anchor="t">
            <a:spAutoFit/>
          </a:bodyPr>
          <a:lstStyle/>
          <a:p>
            <a:pPr algn="l"/>
            <a:r>
              <a:rPr sz="1200" b="0">
                <a:solidFill>
                  <a:srgbClr val="1F2937"/>
                </a:solidFill>
                <a:latin typeface="Aptos"/>
              </a:rPr>
              <a:t>Synthetic readable transaction stream
Role: operational explanation, workbench review, human pilot stimuli
Source basis: Le Borgne et al. (2022)</a:t>
            </a:r>
          </a:p>
        </p:txBody>
      </p:sp>
      <p:sp>
        <p:nvSpPr>
          <p:cNvPr id="14" name="TextBox 13"/>
          <p:cNvSpPr txBox="1"/>
          <p:nvPr/>
        </p:nvSpPr>
        <p:spPr>
          <a:xfrm>
            <a:off x="5806440" y="5394960"/>
            <a:ext cx="5029200" cy="411480"/>
          </a:xfrm>
          <a:prstGeom prst="rect">
            <a:avLst/>
          </a:prstGeom>
          <a:noFill/>
        </p:spPr>
        <p:txBody>
          <a:bodyPr wrap="none" lIns="25400" rIns="25400" tIns="12700" bIns="12700" anchor="t">
            <a:spAutoFit/>
          </a:bodyPr>
          <a:lstStyle/>
          <a:p>
            <a:pPr algn="ctr"/>
            <a:r>
              <a:rPr sz="1500" b="1">
                <a:solidFill>
                  <a:srgbClr val="101F34"/>
                </a:solidFill>
                <a:latin typeface="Aptos"/>
              </a:rPr>
              <a:t>One contribution: evidence-governed local-LLM explanation delivery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49808"/>
          </a:xfrm>
          <a:prstGeom prst="rect">
            <a:avLst/>
          </a:prstGeom>
          <a:solidFill>
            <a:srgbClr val="10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698480" cy="402336"/>
          </a:xfrm>
          <a:prstGeom prst="rect">
            <a:avLst/>
          </a:prstGeom>
          <a:noFill/>
        </p:spPr>
        <p:txBody>
          <a:bodyPr wrap="none" lIns="25400" rIns="25400" tIns="12700" bIns="12700" anchor="t">
            <a:spAutoFit/>
          </a:bodyPr>
          <a:lstStyle/>
          <a:p>
            <a:pPr algn="l"/>
            <a:r>
              <a:rPr sz="2400" b="1">
                <a:solidFill>
                  <a:srgbClr val="FFFFFF"/>
                </a:solidFill>
                <a:latin typeface="Aptos"/>
              </a:rPr>
              <a:t>End-to-End Methodology</a:t>
            </a:r>
          </a:p>
        </p:txBody>
      </p:sp>
      <p:sp>
        <p:nvSpPr>
          <p:cNvPr id="4" name="TextBox 3"/>
          <p:cNvSpPr txBox="1"/>
          <p:nvPr/>
        </p:nvSpPr>
        <p:spPr>
          <a:xfrm>
            <a:off x="11292840" y="173736"/>
            <a:ext cx="384048" cy="347472"/>
          </a:xfrm>
          <a:prstGeom prst="rect">
            <a:avLst/>
          </a:prstGeom>
          <a:noFill/>
        </p:spPr>
        <p:txBody>
          <a:bodyPr wrap="none" lIns="25400" rIns="25400" tIns="12700" bIns="12700" anchor="t">
            <a:spAutoFit/>
          </a:bodyPr>
          <a:lstStyle/>
          <a:p>
            <a:pPr algn="r"/>
            <a:r>
              <a:rPr sz="1500" b="1">
                <a:solidFill>
                  <a:srgbClr val="FFFFFF"/>
                </a:solidFill>
                <a:latin typeface="Aptos"/>
              </a:rPr>
              <a:t>04</a:t>
            </a:r>
          </a:p>
        </p:txBody>
      </p:sp>
      <p:sp>
        <p:nvSpPr>
          <p:cNvPr id="5" name="Rectangle 4"/>
          <p:cNvSpPr/>
          <p:nvPr/>
        </p:nvSpPr>
        <p:spPr>
          <a:xfrm>
            <a:off x="502920" y="6556248"/>
            <a:ext cx="11155680" cy="12700"/>
          </a:xfrm>
          <a:prstGeom prst="rect">
            <a:avLst/>
          </a:prstGeom>
          <a:solidFill>
            <a:srgbClr val="D1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601968"/>
            <a:ext cx="5303520" cy="182880"/>
          </a:xfrm>
          <a:prstGeom prst="rect">
            <a:avLst/>
          </a:prstGeom>
          <a:noFill/>
        </p:spPr>
        <p:txBody>
          <a:bodyPr wrap="none" lIns="25400" rIns="25400" tIns="12700" bIns="12700" anchor="t">
            <a:spAutoFit/>
          </a:bodyPr>
          <a:lstStyle/>
          <a:p>
            <a:pPr algn="l"/>
            <a:r>
              <a:rPr sz="900" b="0">
                <a:solidFill>
                  <a:srgbClr val="5C6979"/>
                </a:solidFill>
                <a:latin typeface="Aptos"/>
              </a:rPr>
              <a:t>Evidence-grounded local-LLM fraud alert review</a:t>
            </a:r>
          </a:p>
        </p:txBody>
      </p:sp>
      <p:sp>
        <p:nvSpPr>
          <p:cNvPr id="7" name="TextBox 6"/>
          <p:cNvSpPr txBox="1"/>
          <p:nvPr/>
        </p:nvSpPr>
        <p:spPr>
          <a:xfrm>
            <a:off x="594360" y="914400"/>
            <a:ext cx="3886200" cy="5257800"/>
          </a:xfrm>
          <a:prstGeom prst="rect">
            <a:avLst/>
          </a:prstGeom>
          <a:noFill/>
        </p:spPr>
        <p:txBody>
          <a:bodyPr wrap="square" lIns="50800" rIns="50800">
            <a:spAutoFit/>
          </a:bodyPr>
          <a:lstStyle/>
          <a:p>
            <a:pPr marL="254000" indent="-203200">
              <a:lnSpc>
                <a:spcPct val="105000"/>
              </a:lnSpc>
              <a:spcAft>
                <a:spcPts val="1000"/>
              </a:spcAft>
              <a:defRPr sz="1700">
                <a:solidFill>
                  <a:srgbClr val="1F2937"/>
                </a:solidFill>
                <a:latin typeface="Aptos"/>
              </a:defRPr>
            </a:pPr>
            <a:r>
              <a:t>•  Deduplicate source data and create stable case IDs.</a:t>
            </a:r>
          </a:p>
          <a:p>
            <a:pPr marL="254000" indent="-203200">
              <a:lnSpc>
                <a:spcPct val="105000"/>
              </a:lnSpc>
              <a:spcAft>
                <a:spcPts val="1000"/>
              </a:spcAft>
              <a:defRPr sz="1700">
                <a:solidFill>
                  <a:srgbClr val="1F2937"/>
                </a:solidFill>
                <a:latin typeface="Aptos"/>
              </a:defRPr>
            </a:pPr>
            <a:r>
              <a:t>•  Split before scaling, SMOTE, autoencoder fitting, threshold selection, and SHAP.</a:t>
            </a:r>
          </a:p>
          <a:p>
            <a:pPr marL="254000" indent="-203200">
              <a:lnSpc>
                <a:spcPct val="105000"/>
              </a:lnSpc>
              <a:spcAft>
                <a:spcPts val="1000"/>
              </a:spcAft>
              <a:defRPr sz="1700">
                <a:solidFill>
                  <a:srgbClr val="1F2937"/>
                </a:solidFill>
                <a:latin typeface="Aptos"/>
              </a:defRPr>
            </a:pPr>
            <a:r>
              <a:t>•  Train six detector groups across five fixed seeds.</a:t>
            </a:r>
          </a:p>
          <a:p>
            <a:pPr marL="254000" indent="-203200">
              <a:lnSpc>
                <a:spcPct val="105000"/>
              </a:lnSpc>
              <a:spcAft>
                <a:spcPts val="1000"/>
              </a:spcAft>
              <a:defRPr sz="1700">
                <a:solidFill>
                  <a:srgbClr val="1F2937"/>
                </a:solidFill>
                <a:latin typeface="Aptos"/>
              </a:defRPr>
            </a:pPr>
            <a:r>
              <a:t>•  Freeze the selected detector and generate signed SHAP reason codes.</a:t>
            </a:r>
          </a:p>
          <a:p>
            <a:pPr marL="254000" indent="-203200">
              <a:lnSpc>
                <a:spcPct val="105000"/>
              </a:lnSpc>
              <a:spcAft>
                <a:spcPts val="1000"/>
              </a:spcAft>
              <a:defRPr sz="1700">
                <a:solidFill>
                  <a:srgbClr val="1F2937"/>
                </a:solidFill>
                <a:latin typeface="Aptos"/>
              </a:defRPr>
            </a:pPr>
            <a:r>
              <a:t>•  Generate local-LLM briefs, validate them, and fall back when needed.</a:t>
            </a:r>
          </a:p>
          <a:p>
            <a:pPr marL="254000" indent="-203200">
              <a:lnSpc>
                <a:spcPct val="105000"/>
              </a:lnSpc>
              <a:spcAft>
                <a:spcPts val="1000"/>
              </a:spcAft>
              <a:defRPr sz="1700">
                <a:solidFill>
                  <a:srgbClr val="1F2937"/>
                </a:solidFill>
                <a:latin typeface="Aptos"/>
              </a:defRPr>
            </a:pPr>
            <a:r>
              <a:t>•  Consume the same artifacts in the React/FastAPI workbench.</a:t>
            </a:r>
          </a:p>
        </p:txBody>
      </p:sp>
      <p:sp>
        <p:nvSpPr>
          <p:cNvPr id="8" name="Rounded Rectangle 7"/>
          <p:cNvSpPr/>
          <p:nvPr/>
        </p:nvSpPr>
        <p:spPr>
          <a:xfrm>
            <a:off x="4892040" y="1005840"/>
            <a:ext cx="1847088" cy="1325880"/>
          </a:xfrm>
          <a:prstGeom prst="roundRect">
            <a:avLst/>
          </a:prstGeom>
          <a:solidFill>
            <a:srgbClr val="EFF4F8"/>
          </a:solidFill>
          <a:ln>
            <a:solidFill>
              <a:srgbClr val="CD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38344" y="1133856"/>
            <a:ext cx="1554480" cy="292608"/>
          </a:xfrm>
          <a:prstGeom prst="rect">
            <a:avLst/>
          </a:prstGeom>
          <a:noFill/>
        </p:spPr>
        <p:txBody>
          <a:bodyPr wrap="none" lIns="25400" rIns="25400" tIns="12700" bIns="12700" anchor="t">
            <a:spAutoFit/>
          </a:bodyPr>
          <a:lstStyle/>
          <a:p>
            <a:pPr algn="l"/>
            <a:r>
              <a:rPr sz="1200" b="1">
                <a:solidFill>
                  <a:srgbClr val="2463AB"/>
                </a:solidFill>
                <a:latin typeface="Aptos"/>
              </a:rPr>
              <a:t>Data controls</a:t>
            </a:r>
          </a:p>
        </p:txBody>
      </p:sp>
      <p:sp>
        <p:nvSpPr>
          <p:cNvPr id="10" name="TextBox 9"/>
          <p:cNvSpPr txBox="1"/>
          <p:nvPr/>
        </p:nvSpPr>
        <p:spPr>
          <a:xfrm>
            <a:off x="5038344" y="1499616"/>
            <a:ext cx="1554480" cy="704088"/>
          </a:xfrm>
          <a:prstGeom prst="rect">
            <a:avLst/>
          </a:prstGeom>
          <a:noFill/>
        </p:spPr>
        <p:txBody>
          <a:bodyPr wrap="none" lIns="25400" rIns="25400" tIns="12700" bIns="12700" anchor="t">
            <a:spAutoFit/>
          </a:bodyPr>
          <a:lstStyle/>
          <a:p>
            <a:pPr algn="l"/>
            <a:r>
              <a:rPr sz="1000" b="0">
                <a:solidFill>
                  <a:srgbClr val="1F2937"/>
                </a:solidFill>
                <a:latin typeface="Aptos"/>
              </a:rPr>
              <a:t>dedupe
split first</a:t>
            </a:r>
          </a:p>
        </p:txBody>
      </p:sp>
      <p:sp>
        <p:nvSpPr>
          <p:cNvPr id="11" name="TextBox 10"/>
          <p:cNvSpPr txBox="1"/>
          <p:nvPr/>
        </p:nvSpPr>
        <p:spPr>
          <a:xfrm>
            <a:off x="6748271" y="1463040"/>
            <a:ext cx="292608" cy="256032"/>
          </a:xfrm>
          <a:prstGeom prst="rect">
            <a:avLst/>
          </a:prstGeom>
          <a:noFill/>
        </p:spPr>
        <p:txBody>
          <a:bodyPr wrap="none" lIns="25400" rIns="25400" tIns="12700" bIns="12700" anchor="t">
            <a:spAutoFit/>
          </a:bodyPr>
          <a:lstStyle/>
          <a:p>
            <a:pPr algn="ctr"/>
            <a:r>
              <a:rPr sz="1800" b="1">
                <a:solidFill>
                  <a:srgbClr val="5C6979"/>
                </a:solidFill>
                <a:latin typeface="Aptos"/>
              </a:rPr>
              <a:t>→</a:t>
            </a:r>
          </a:p>
        </p:txBody>
      </p:sp>
      <p:sp>
        <p:nvSpPr>
          <p:cNvPr id="12" name="Rounded Rectangle 11"/>
          <p:cNvSpPr/>
          <p:nvPr/>
        </p:nvSpPr>
        <p:spPr>
          <a:xfrm>
            <a:off x="7040880" y="1005840"/>
            <a:ext cx="1847088" cy="1325880"/>
          </a:xfrm>
          <a:prstGeom prst="roundRect">
            <a:avLst/>
          </a:prstGeom>
          <a:solidFill>
            <a:srgbClr val="EFF4F8"/>
          </a:solidFill>
          <a:ln>
            <a:solidFill>
              <a:srgbClr val="CD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87184" y="1133856"/>
            <a:ext cx="1554480" cy="292608"/>
          </a:xfrm>
          <a:prstGeom prst="rect">
            <a:avLst/>
          </a:prstGeom>
          <a:noFill/>
        </p:spPr>
        <p:txBody>
          <a:bodyPr wrap="none" lIns="25400" rIns="25400" tIns="12700" bIns="12700" anchor="t">
            <a:spAutoFit/>
          </a:bodyPr>
          <a:lstStyle/>
          <a:p>
            <a:pPr algn="l"/>
            <a:r>
              <a:rPr sz="1200" b="1">
                <a:solidFill>
                  <a:srgbClr val="107D70"/>
                </a:solidFill>
                <a:latin typeface="Aptos"/>
              </a:rPr>
              <a:t>Detector</a:t>
            </a:r>
          </a:p>
        </p:txBody>
      </p:sp>
      <p:sp>
        <p:nvSpPr>
          <p:cNvPr id="14" name="TextBox 13"/>
          <p:cNvSpPr txBox="1"/>
          <p:nvPr/>
        </p:nvSpPr>
        <p:spPr>
          <a:xfrm>
            <a:off x="7187184" y="1499616"/>
            <a:ext cx="1554480" cy="704088"/>
          </a:xfrm>
          <a:prstGeom prst="rect">
            <a:avLst/>
          </a:prstGeom>
          <a:noFill/>
        </p:spPr>
        <p:txBody>
          <a:bodyPr wrap="none" lIns="25400" rIns="25400" tIns="12700" bIns="12700" anchor="t">
            <a:spAutoFit/>
          </a:bodyPr>
          <a:lstStyle/>
          <a:p>
            <a:pPr algn="l"/>
            <a:r>
              <a:rPr sz="1000" b="0">
                <a:solidFill>
                  <a:srgbClr val="1F2937"/>
                </a:solidFill>
                <a:latin typeface="Aptos"/>
              </a:rPr>
              <a:t>G0/G1/G2/G3/G6/G7
validation freeze</a:t>
            </a:r>
          </a:p>
        </p:txBody>
      </p:sp>
      <p:sp>
        <p:nvSpPr>
          <p:cNvPr id="15" name="TextBox 14"/>
          <p:cNvSpPr txBox="1"/>
          <p:nvPr/>
        </p:nvSpPr>
        <p:spPr>
          <a:xfrm>
            <a:off x="8897111" y="1463040"/>
            <a:ext cx="292608" cy="256032"/>
          </a:xfrm>
          <a:prstGeom prst="rect">
            <a:avLst/>
          </a:prstGeom>
          <a:noFill/>
        </p:spPr>
        <p:txBody>
          <a:bodyPr wrap="none" lIns="25400" rIns="25400" tIns="12700" bIns="12700" anchor="t">
            <a:spAutoFit/>
          </a:bodyPr>
          <a:lstStyle/>
          <a:p>
            <a:pPr algn="ctr"/>
            <a:r>
              <a:rPr sz="1800" b="1">
                <a:solidFill>
                  <a:srgbClr val="5C6979"/>
                </a:solidFill>
                <a:latin typeface="Aptos"/>
              </a:rPr>
              <a:t>→</a:t>
            </a:r>
          </a:p>
        </p:txBody>
      </p:sp>
      <p:sp>
        <p:nvSpPr>
          <p:cNvPr id="16" name="Rounded Rectangle 15"/>
          <p:cNvSpPr/>
          <p:nvPr/>
        </p:nvSpPr>
        <p:spPr>
          <a:xfrm>
            <a:off x="9189720" y="1005840"/>
            <a:ext cx="1847088" cy="1325880"/>
          </a:xfrm>
          <a:prstGeom prst="roundRect">
            <a:avLst/>
          </a:prstGeom>
          <a:solidFill>
            <a:srgbClr val="EFF4F8"/>
          </a:solidFill>
          <a:ln>
            <a:solidFill>
              <a:srgbClr val="CD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36024" y="1133856"/>
            <a:ext cx="1554480" cy="292608"/>
          </a:xfrm>
          <a:prstGeom prst="rect">
            <a:avLst/>
          </a:prstGeom>
          <a:noFill/>
        </p:spPr>
        <p:txBody>
          <a:bodyPr wrap="none" lIns="25400" rIns="25400" tIns="12700" bIns="12700" anchor="t">
            <a:spAutoFit/>
          </a:bodyPr>
          <a:lstStyle/>
          <a:p>
            <a:pPr algn="l"/>
            <a:r>
              <a:rPr sz="1200" b="1">
                <a:solidFill>
                  <a:srgbClr val="CA7736"/>
                </a:solidFill>
                <a:latin typeface="Aptos"/>
              </a:rPr>
              <a:t>SHAP evidence</a:t>
            </a:r>
          </a:p>
        </p:txBody>
      </p:sp>
      <p:sp>
        <p:nvSpPr>
          <p:cNvPr id="18" name="TextBox 17"/>
          <p:cNvSpPr txBox="1"/>
          <p:nvPr/>
        </p:nvSpPr>
        <p:spPr>
          <a:xfrm>
            <a:off x="9336024" y="1499616"/>
            <a:ext cx="1554480" cy="704088"/>
          </a:xfrm>
          <a:prstGeom prst="rect">
            <a:avLst/>
          </a:prstGeom>
          <a:noFill/>
        </p:spPr>
        <p:txBody>
          <a:bodyPr wrap="none" lIns="25400" rIns="25400" tIns="12700" bIns="12700" anchor="t">
            <a:spAutoFit/>
          </a:bodyPr>
          <a:lstStyle/>
          <a:p>
            <a:pPr algn="l"/>
            <a:r>
              <a:rPr sz="1000" b="0">
                <a:solidFill>
                  <a:srgbClr val="1F2937"/>
                </a:solidFill>
                <a:latin typeface="Aptos"/>
              </a:rPr>
              <a:t>signed top-3
reason codes</a:t>
            </a:r>
          </a:p>
        </p:txBody>
      </p:sp>
      <p:sp>
        <p:nvSpPr>
          <p:cNvPr id="19" name="Rounded Rectangle 18"/>
          <p:cNvSpPr/>
          <p:nvPr/>
        </p:nvSpPr>
        <p:spPr>
          <a:xfrm>
            <a:off x="4892040" y="2971800"/>
            <a:ext cx="1847088" cy="1325880"/>
          </a:xfrm>
          <a:prstGeom prst="roundRect">
            <a:avLst/>
          </a:prstGeom>
          <a:solidFill>
            <a:srgbClr val="EFF4F8"/>
          </a:solidFill>
          <a:ln>
            <a:solidFill>
              <a:srgbClr val="CD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38344" y="3099816"/>
            <a:ext cx="1554480" cy="292608"/>
          </a:xfrm>
          <a:prstGeom prst="rect">
            <a:avLst/>
          </a:prstGeom>
          <a:noFill/>
        </p:spPr>
        <p:txBody>
          <a:bodyPr wrap="none" lIns="25400" rIns="25400" tIns="12700" bIns="12700" anchor="t">
            <a:spAutoFit/>
          </a:bodyPr>
          <a:lstStyle/>
          <a:p>
            <a:pPr algn="l"/>
            <a:r>
              <a:rPr sz="1200" b="1">
                <a:solidFill>
                  <a:srgbClr val="2463AB"/>
                </a:solidFill>
                <a:latin typeface="Aptos"/>
              </a:rPr>
              <a:t>Local LLM</a:t>
            </a:r>
          </a:p>
        </p:txBody>
      </p:sp>
      <p:sp>
        <p:nvSpPr>
          <p:cNvPr id="21" name="TextBox 20"/>
          <p:cNvSpPr txBox="1"/>
          <p:nvPr/>
        </p:nvSpPr>
        <p:spPr>
          <a:xfrm>
            <a:off x="5038344" y="3465576"/>
            <a:ext cx="1554480" cy="704088"/>
          </a:xfrm>
          <a:prstGeom prst="rect">
            <a:avLst/>
          </a:prstGeom>
          <a:noFill/>
        </p:spPr>
        <p:txBody>
          <a:bodyPr wrap="none" lIns="25400" rIns="25400" tIns="12700" bIns="12700" anchor="t">
            <a:spAutoFit/>
          </a:bodyPr>
          <a:lstStyle/>
          <a:p>
            <a:pPr algn="l"/>
            <a:r>
              <a:rPr sz="1000" b="0">
                <a:solidFill>
                  <a:srgbClr val="1F2937"/>
                </a:solidFill>
                <a:latin typeface="Aptos"/>
              </a:rPr>
              <a:t>minimized payload
raw output retained</a:t>
            </a:r>
          </a:p>
        </p:txBody>
      </p:sp>
      <p:sp>
        <p:nvSpPr>
          <p:cNvPr id="22" name="TextBox 21"/>
          <p:cNvSpPr txBox="1"/>
          <p:nvPr/>
        </p:nvSpPr>
        <p:spPr>
          <a:xfrm>
            <a:off x="6748271" y="3429000"/>
            <a:ext cx="292608" cy="256032"/>
          </a:xfrm>
          <a:prstGeom prst="rect">
            <a:avLst/>
          </a:prstGeom>
          <a:noFill/>
        </p:spPr>
        <p:txBody>
          <a:bodyPr wrap="none" lIns="25400" rIns="25400" tIns="12700" bIns="12700" anchor="t">
            <a:spAutoFit/>
          </a:bodyPr>
          <a:lstStyle/>
          <a:p>
            <a:pPr algn="ctr"/>
            <a:r>
              <a:rPr sz="1800" b="1">
                <a:solidFill>
                  <a:srgbClr val="5C6979"/>
                </a:solidFill>
                <a:latin typeface="Aptos"/>
              </a:rPr>
              <a:t>→</a:t>
            </a:r>
          </a:p>
        </p:txBody>
      </p:sp>
      <p:sp>
        <p:nvSpPr>
          <p:cNvPr id="23" name="Rounded Rectangle 22"/>
          <p:cNvSpPr/>
          <p:nvPr/>
        </p:nvSpPr>
        <p:spPr>
          <a:xfrm>
            <a:off x="7040880" y="2971800"/>
            <a:ext cx="1847088" cy="1325880"/>
          </a:xfrm>
          <a:prstGeom prst="roundRect">
            <a:avLst/>
          </a:prstGeom>
          <a:solidFill>
            <a:srgbClr val="EFF4F8"/>
          </a:solidFill>
          <a:ln>
            <a:solidFill>
              <a:srgbClr val="CD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87184" y="3099816"/>
            <a:ext cx="1554480" cy="292608"/>
          </a:xfrm>
          <a:prstGeom prst="rect">
            <a:avLst/>
          </a:prstGeom>
          <a:noFill/>
        </p:spPr>
        <p:txBody>
          <a:bodyPr wrap="none" lIns="25400" rIns="25400" tIns="12700" bIns="12700" anchor="t">
            <a:spAutoFit/>
          </a:bodyPr>
          <a:lstStyle/>
          <a:p>
            <a:pPr algn="l"/>
            <a:r>
              <a:rPr sz="1200" b="1">
                <a:solidFill>
                  <a:srgbClr val="B53737"/>
                </a:solidFill>
                <a:latin typeface="Aptos"/>
              </a:rPr>
              <a:t>Validator</a:t>
            </a:r>
          </a:p>
        </p:txBody>
      </p:sp>
      <p:sp>
        <p:nvSpPr>
          <p:cNvPr id="25" name="TextBox 24"/>
          <p:cNvSpPr txBox="1"/>
          <p:nvPr/>
        </p:nvSpPr>
        <p:spPr>
          <a:xfrm>
            <a:off x="7187184" y="3465576"/>
            <a:ext cx="1554480" cy="704088"/>
          </a:xfrm>
          <a:prstGeom prst="rect">
            <a:avLst/>
          </a:prstGeom>
          <a:noFill/>
        </p:spPr>
        <p:txBody>
          <a:bodyPr wrap="none" lIns="25400" rIns="25400" tIns="12700" bIns="12700" anchor="t">
            <a:spAutoFit/>
          </a:bodyPr>
          <a:lstStyle/>
          <a:p>
            <a:pPr algn="l"/>
            <a:r>
              <a:rPr sz="1000" b="0">
                <a:solidFill>
                  <a:srgbClr val="1F2937"/>
                </a:solidFill>
                <a:latin typeface="Aptos"/>
              </a:rPr>
              <a:t>format
grounding
direction</a:t>
            </a:r>
          </a:p>
        </p:txBody>
      </p:sp>
      <p:sp>
        <p:nvSpPr>
          <p:cNvPr id="26" name="TextBox 25"/>
          <p:cNvSpPr txBox="1"/>
          <p:nvPr/>
        </p:nvSpPr>
        <p:spPr>
          <a:xfrm>
            <a:off x="8897111" y="3429000"/>
            <a:ext cx="292608" cy="256032"/>
          </a:xfrm>
          <a:prstGeom prst="rect">
            <a:avLst/>
          </a:prstGeom>
          <a:noFill/>
        </p:spPr>
        <p:txBody>
          <a:bodyPr wrap="none" lIns="25400" rIns="25400" tIns="12700" bIns="12700" anchor="t">
            <a:spAutoFit/>
          </a:bodyPr>
          <a:lstStyle/>
          <a:p>
            <a:pPr algn="ctr"/>
            <a:r>
              <a:rPr sz="1800" b="1">
                <a:solidFill>
                  <a:srgbClr val="5C6979"/>
                </a:solidFill>
                <a:latin typeface="Aptos"/>
              </a:rPr>
              <a:t>→</a:t>
            </a:r>
          </a:p>
        </p:txBody>
      </p:sp>
      <p:sp>
        <p:nvSpPr>
          <p:cNvPr id="27" name="Rounded Rectangle 26"/>
          <p:cNvSpPr/>
          <p:nvPr/>
        </p:nvSpPr>
        <p:spPr>
          <a:xfrm>
            <a:off x="9189720" y="2971800"/>
            <a:ext cx="1847088" cy="1325880"/>
          </a:xfrm>
          <a:prstGeom prst="roundRect">
            <a:avLst/>
          </a:prstGeom>
          <a:solidFill>
            <a:srgbClr val="EFF4F8"/>
          </a:solidFill>
          <a:ln>
            <a:solidFill>
              <a:srgbClr val="CD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36024" y="3099816"/>
            <a:ext cx="1554480" cy="292608"/>
          </a:xfrm>
          <a:prstGeom prst="rect">
            <a:avLst/>
          </a:prstGeom>
          <a:noFill/>
        </p:spPr>
        <p:txBody>
          <a:bodyPr wrap="none" lIns="25400" rIns="25400" tIns="12700" bIns="12700" anchor="t">
            <a:spAutoFit/>
          </a:bodyPr>
          <a:lstStyle/>
          <a:p>
            <a:pPr algn="l"/>
            <a:r>
              <a:rPr sz="1200" b="1">
                <a:solidFill>
                  <a:srgbClr val="101F34"/>
                </a:solidFill>
                <a:latin typeface="Aptos"/>
              </a:rPr>
              <a:t>Workbench</a:t>
            </a:r>
          </a:p>
        </p:txBody>
      </p:sp>
      <p:sp>
        <p:nvSpPr>
          <p:cNvPr id="29" name="TextBox 28"/>
          <p:cNvSpPr txBox="1"/>
          <p:nvPr/>
        </p:nvSpPr>
        <p:spPr>
          <a:xfrm>
            <a:off x="9336024" y="3465576"/>
            <a:ext cx="1554480" cy="704088"/>
          </a:xfrm>
          <a:prstGeom prst="rect">
            <a:avLst/>
          </a:prstGeom>
          <a:noFill/>
        </p:spPr>
        <p:txBody>
          <a:bodyPr wrap="none" lIns="25400" rIns="25400" tIns="12700" bIns="12700" anchor="t">
            <a:spAutoFit/>
          </a:bodyPr>
          <a:lstStyle/>
          <a:p>
            <a:pPr algn="l"/>
            <a:r>
              <a:rPr sz="1000" b="0">
                <a:solidFill>
                  <a:srgbClr val="1F2937"/>
                </a:solidFill>
                <a:latin typeface="Aptos"/>
              </a:rPr>
              <a:t>review action
fallback visible</a:t>
            </a:r>
          </a:p>
        </p:txBody>
      </p:sp>
      <p:sp>
        <p:nvSpPr>
          <p:cNvPr id="30" name="TextBox 29"/>
          <p:cNvSpPr txBox="1"/>
          <p:nvPr/>
        </p:nvSpPr>
        <p:spPr>
          <a:xfrm>
            <a:off x="5532120" y="5394960"/>
            <a:ext cx="5212080" cy="365760"/>
          </a:xfrm>
          <a:prstGeom prst="rect">
            <a:avLst/>
          </a:prstGeom>
          <a:noFill/>
        </p:spPr>
        <p:txBody>
          <a:bodyPr wrap="none" lIns="25400" rIns="25400" tIns="12700" bIns="12700" anchor="t">
            <a:spAutoFit/>
          </a:bodyPr>
          <a:lstStyle/>
          <a:p>
            <a:pPr algn="ctr"/>
            <a:r>
              <a:rPr sz="1300" b="0">
                <a:solidFill>
                  <a:srgbClr val="5C6979"/>
                </a:solidFill>
                <a:latin typeface="Aptos"/>
              </a:rPr>
              <a:t>Core rule: the generated brief can never change the stored evidence.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49808"/>
          </a:xfrm>
          <a:prstGeom prst="rect">
            <a:avLst/>
          </a:prstGeom>
          <a:solidFill>
            <a:srgbClr val="10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698480" cy="402336"/>
          </a:xfrm>
          <a:prstGeom prst="rect">
            <a:avLst/>
          </a:prstGeom>
          <a:noFill/>
        </p:spPr>
        <p:txBody>
          <a:bodyPr wrap="none" lIns="25400" rIns="25400" tIns="12700" bIns="12700" anchor="t">
            <a:spAutoFit/>
          </a:bodyPr>
          <a:lstStyle/>
          <a:p>
            <a:pPr algn="l"/>
            <a:r>
              <a:rPr sz="2400" b="1">
                <a:solidFill>
                  <a:srgbClr val="FFFFFF"/>
                </a:solidFill>
                <a:latin typeface="Aptos"/>
              </a:rPr>
              <a:t>Detector Benchmark: What Was Tested</a:t>
            </a:r>
          </a:p>
        </p:txBody>
      </p:sp>
      <p:sp>
        <p:nvSpPr>
          <p:cNvPr id="4" name="TextBox 3"/>
          <p:cNvSpPr txBox="1"/>
          <p:nvPr/>
        </p:nvSpPr>
        <p:spPr>
          <a:xfrm>
            <a:off x="11292840" y="173736"/>
            <a:ext cx="384048" cy="347472"/>
          </a:xfrm>
          <a:prstGeom prst="rect">
            <a:avLst/>
          </a:prstGeom>
          <a:noFill/>
        </p:spPr>
        <p:txBody>
          <a:bodyPr wrap="none" lIns="25400" rIns="25400" tIns="12700" bIns="12700" anchor="t">
            <a:spAutoFit/>
          </a:bodyPr>
          <a:lstStyle/>
          <a:p>
            <a:pPr algn="r"/>
            <a:r>
              <a:rPr sz="1500" b="1">
                <a:solidFill>
                  <a:srgbClr val="FFFFFF"/>
                </a:solidFill>
                <a:latin typeface="Aptos"/>
              </a:rPr>
              <a:t>05</a:t>
            </a:r>
          </a:p>
        </p:txBody>
      </p:sp>
      <p:sp>
        <p:nvSpPr>
          <p:cNvPr id="5" name="Rectangle 4"/>
          <p:cNvSpPr/>
          <p:nvPr/>
        </p:nvSpPr>
        <p:spPr>
          <a:xfrm>
            <a:off x="502920" y="6556248"/>
            <a:ext cx="11155680" cy="12700"/>
          </a:xfrm>
          <a:prstGeom prst="rect">
            <a:avLst/>
          </a:prstGeom>
          <a:solidFill>
            <a:srgbClr val="D1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601968"/>
            <a:ext cx="5303520" cy="182880"/>
          </a:xfrm>
          <a:prstGeom prst="rect">
            <a:avLst/>
          </a:prstGeom>
          <a:noFill/>
        </p:spPr>
        <p:txBody>
          <a:bodyPr wrap="none" lIns="25400" rIns="25400" tIns="12700" bIns="12700" anchor="t">
            <a:spAutoFit/>
          </a:bodyPr>
          <a:lstStyle/>
          <a:p>
            <a:pPr algn="l"/>
            <a:r>
              <a:rPr sz="900" b="0">
                <a:solidFill>
                  <a:srgbClr val="5C6979"/>
                </a:solidFill>
                <a:latin typeface="Aptos"/>
              </a:rPr>
              <a:t>Evidence-grounded local-LLM fraud alert review</a:t>
            </a:r>
          </a:p>
        </p:txBody>
      </p:sp>
      <p:sp>
        <p:nvSpPr>
          <p:cNvPr id="7" name="TextBox 6"/>
          <p:cNvSpPr txBox="1"/>
          <p:nvPr/>
        </p:nvSpPr>
        <p:spPr>
          <a:xfrm>
            <a:off x="594360" y="914400"/>
            <a:ext cx="3931920" cy="5257800"/>
          </a:xfrm>
          <a:prstGeom prst="rect">
            <a:avLst/>
          </a:prstGeom>
          <a:noFill/>
        </p:spPr>
        <p:txBody>
          <a:bodyPr wrap="square" lIns="50800" rIns="50800">
            <a:spAutoFit/>
          </a:bodyPr>
          <a:lstStyle/>
          <a:p>
            <a:pPr marL="254000" indent="-203200">
              <a:lnSpc>
                <a:spcPct val="105000"/>
              </a:lnSpc>
              <a:spcAft>
                <a:spcPts val="1000"/>
              </a:spcAft>
              <a:defRPr sz="1700">
                <a:solidFill>
                  <a:srgbClr val="1F2937"/>
                </a:solidFill>
                <a:latin typeface="Aptos"/>
              </a:defRPr>
            </a:pPr>
            <a:r>
              <a:t>•  Groups: G0, G1, G2, G3, G6, and G7 over seeds 42 to 46.</a:t>
            </a:r>
          </a:p>
          <a:p>
            <a:pPr marL="254000" indent="-203200">
              <a:lnSpc>
                <a:spcPct val="105000"/>
              </a:lnSpc>
              <a:spcAft>
                <a:spcPts val="1000"/>
              </a:spcAft>
              <a:defRPr sz="1700">
                <a:solidFill>
                  <a:srgbClr val="1F2937"/>
                </a:solidFill>
                <a:latin typeface="Aptos"/>
              </a:defRPr>
            </a:pPr>
            <a:r>
              <a:t>•  G0: original features with XGBoost.</a:t>
            </a:r>
          </a:p>
          <a:p>
            <a:pPr marL="254000" indent="-203200">
              <a:lnSpc>
                <a:spcPct val="105000"/>
              </a:lnSpc>
              <a:spcAft>
                <a:spcPts val="1000"/>
              </a:spcAft>
              <a:defRPr sz="1700">
                <a:solidFill>
                  <a:srgbClr val="1F2937"/>
                </a:solidFill>
                <a:latin typeface="Aptos"/>
              </a:defRPr>
            </a:pPr>
            <a:r>
              <a:t>•  G1/G3: training-only SMOTE.</a:t>
            </a:r>
          </a:p>
          <a:p>
            <a:pPr marL="254000" indent="-203200">
              <a:lnSpc>
                <a:spcPct val="105000"/>
              </a:lnSpc>
              <a:spcAft>
                <a:spcPts val="1000"/>
              </a:spcAft>
              <a:defRPr sz="1700">
                <a:solidFill>
                  <a:srgbClr val="1F2937"/>
                </a:solidFill>
                <a:latin typeface="Aptos"/>
              </a:defRPr>
            </a:pPr>
            <a:r>
              <a:t>•  G2/G3/G7: autoencoder reconstruction or latent features.</a:t>
            </a:r>
          </a:p>
          <a:p>
            <a:pPr marL="254000" indent="-203200">
              <a:lnSpc>
                <a:spcPct val="105000"/>
              </a:lnSpc>
              <a:spcAft>
                <a:spcPts val="1000"/>
              </a:spcAft>
              <a:defRPr sz="1700">
                <a:solidFill>
                  <a:srgbClr val="1F2937"/>
                </a:solidFill>
                <a:latin typeface="Aptos"/>
              </a:defRPr>
            </a:pPr>
            <a:r>
              <a:t>•  G6: cost-sensitive XGBoost using scale_pos_weight.</a:t>
            </a:r>
          </a:p>
          <a:p>
            <a:pPr marL="254000" indent="-203200">
              <a:lnSpc>
                <a:spcPct val="105000"/>
              </a:lnSpc>
              <a:spcAft>
                <a:spcPts val="1000"/>
              </a:spcAft>
              <a:defRPr sz="1700">
                <a:solidFill>
                  <a:srgbClr val="1F2937"/>
                </a:solidFill>
                <a:latin typeface="Aptos"/>
              </a:defRPr>
            </a:pPr>
            <a:r>
              <a:t>•  Detector comparison is supporting evidence, not the main novelty.</a:t>
            </a:r>
          </a:p>
        </p:txBody>
      </p:sp>
      <p:sp>
        <p:nvSpPr>
          <p:cNvPr id="8" name="Rectangle 7"/>
          <p:cNvSpPr/>
          <p:nvPr/>
        </p:nvSpPr>
        <p:spPr>
          <a:xfrm>
            <a:off x="5074920" y="1005840"/>
            <a:ext cx="777240" cy="530352"/>
          </a:xfrm>
          <a:prstGeom prst="rect">
            <a:avLst/>
          </a:prstGeom>
          <a:solidFill>
            <a:srgbClr val="101F3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29784" y="1133856"/>
            <a:ext cx="667512" cy="228600"/>
          </a:xfrm>
          <a:prstGeom prst="rect">
            <a:avLst/>
          </a:prstGeom>
          <a:noFill/>
        </p:spPr>
        <p:txBody>
          <a:bodyPr wrap="none" lIns="25400" rIns="25400" tIns="12700" bIns="12700" anchor="t">
            <a:spAutoFit/>
          </a:bodyPr>
          <a:lstStyle/>
          <a:p>
            <a:pPr algn="ctr"/>
            <a:r>
              <a:rPr sz="1100" b="1">
                <a:solidFill>
                  <a:srgbClr val="FFFFFF"/>
                </a:solidFill>
                <a:latin typeface="Aptos"/>
              </a:rPr>
              <a:t>Group</a:t>
            </a:r>
          </a:p>
        </p:txBody>
      </p:sp>
      <p:sp>
        <p:nvSpPr>
          <p:cNvPr id="10" name="Rectangle 9"/>
          <p:cNvSpPr/>
          <p:nvPr/>
        </p:nvSpPr>
        <p:spPr>
          <a:xfrm>
            <a:off x="5852160" y="1005840"/>
            <a:ext cx="3017520" cy="530352"/>
          </a:xfrm>
          <a:prstGeom prst="rect">
            <a:avLst/>
          </a:prstGeom>
          <a:solidFill>
            <a:srgbClr val="101F3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07024" y="1133856"/>
            <a:ext cx="2907792" cy="228600"/>
          </a:xfrm>
          <a:prstGeom prst="rect">
            <a:avLst/>
          </a:prstGeom>
          <a:noFill/>
        </p:spPr>
        <p:txBody>
          <a:bodyPr wrap="none" lIns="25400" rIns="25400" tIns="12700" bIns="12700" anchor="t">
            <a:spAutoFit/>
          </a:bodyPr>
          <a:lstStyle/>
          <a:p>
            <a:pPr algn="ctr"/>
            <a:r>
              <a:rPr sz="1100" b="1">
                <a:solidFill>
                  <a:srgbClr val="FFFFFF"/>
                </a:solidFill>
                <a:latin typeface="Aptos"/>
              </a:rPr>
              <a:t>Input</a:t>
            </a:r>
          </a:p>
        </p:txBody>
      </p:sp>
      <p:sp>
        <p:nvSpPr>
          <p:cNvPr id="12" name="Rectangle 11"/>
          <p:cNvSpPr/>
          <p:nvPr/>
        </p:nvSpPr>
        <p:spPr>
          <a:xfrm>
            <a:off x="8869680" y="1005840"/>
            <a:ext cx="1828800" cy="530352"/>
          </a:xfrm>
          <a:prstGeom prst="rect">
            <a:avLst/>
          </a:prstGeom>
          <a:solidFill>
            <a:srgbClr val="101F3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24544" y="1133856"/>
            <a:ext cx="1719072" cy="228600"/>
          </a:xfrm>
          <a:prstGeom prst="rect">
            <a:avLst/>
          </a:prstGeom>
          <a:noFill/>
        </p:spPr>
        <p:txBody>
          <a:bodyPr wrap="none" lIns="25400" rIns="25400" tIns="12700" bIns="12700" anchor="t">
            <a:spAutoFit/>
          </a:bodyPr>
          <a:lstStyle/>
          <a:p>
            <a:pPr algn="ctr"/>
            <a:r>
              <a:rPr sz="1100" b="1">
                <a:solidFill>
                  <a:srgbClr val="FFFFFF"/>
                </a:solidFill>
                <a:latin typeface="Aptos"/>
              </a:rPr>
              <a:t>Imbalance</a:t>
            </a:r>
          </a:p>
        </p:txBody>
      </p:sp>
      <p:sp>
        <p:nvSpPr>
          <p:cNvPr id="14" name="Rectangle 13"/>
          <p:cNvSpPr/>
          <p:nvPr/>
        </p:nvSpPr>
        <p:spPr>
          <a:xfrm>
            <a:off x="5074920" y="1536192"/>
            <a:ext cx="777240" cy="530352"/>
          </a:xfrm>
          <a:prstGeom prst="rect">
            <a:avLst/>
          </a:prstGeom>
          <a:solidFill>
            <a:srgbClr val="F9FBFD"/>
          </a:solidFill>
          <a:ln>
            <a:solidFill>
              <a:srgbClr val="DA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29784" y="1664208"/>
            <a:ext cx="667512" cy="228600"/>
          </a:xfrm>
          <a:prstGeom prst="rect">
            <a:avLst/>
          </a:prstGeom>
          <a:noFill/>
        </p:spPr>
        <p:txBody>
          <a:bodyPr wrap="none" lIns="25400" rIns="25400" tIns="12700" bIns="12700" anchor="t">
            <a:spAutoFit/>
          </a:bodyPr>
          <a:lstStyle/>
          <a:p>
            <a:pPr algn="ctr"/>
            <a:r>
              <a:rPr sz="1000" b="0">
                <a:solidFill>
                  <a:srgbClr val="1F2937"/>
                </a:solidFill>
                <a:latin typeface="Aptos"/>
              </a:rPr>
              <a:t>G0</a:t>
            </a:r>
          </a:p>
        </p:txBody>
      </p:sp>
      <p:sp>
        <p:nvSpPr>
          <p:cNvPr id="16" name="Rectangle 15"/>
          <p:cNvSpPr/>
          <p:nvPr/>
        </p:nvSpPr>
        <p:spPr>
          <a:xfrm>
            <a:off x="5852160" y="1536192"/>
            <a:ext cx="3017520" cy="530352"/>
          </a:xfrm>
          <a:prstGeom prst="rect">
            <a:avLst/>
          </a:prstGeom>
          <a:solidFill>
            <a:srgbClr val="F9FBFD"/>
          </a:solidFill>
          <a:ln>
            <a:solidFill>
              <a:srgbClr val="DA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07024" y="1664208"/>
            <a:ext cx="2907792" cy="228600"/>
          </a:xfrm>
          <a:prstGeom prst="rect">
            <a:avLst/>
          </a:prstGeom>
          <a:noFill/>
        </p:spPr>
        <p:txBody>
          <a:bodyPr wrap="none" lIns="25400" rIns="25400" tIns="12700" bIns="12700" anchor="t">
            <a:spAutoFit/>
          </a:bodyPr>
          <a:lstStyle/>
          <a:p>
            <a:pPr algn="l"/>
            <a:r>
              <a:rPr sz="1000" b="0">
                <a:solidFill>
                  <a:srgbClr val="1F2937"/>
                </a:solidFill>
                <a:latin typeface="Aptos"/>
              </a:rPr>
              <a:t>Original features</a:t>
            </a:r>
          </a:p>
        </p:txBody>
      </p:sp>
      <p:sp>
        <p:nvSpPr>
          <p:cNvPr id="18" name="Rectangle 17"/>
          <p:cNvSpPr/>
          <p:nvPr/>
        </p:nvSpPr>
        <p:spPr>
          <a:xfrm>
            <a:off x="8869680" y="1536192"/>
            <a:ext cx="1828800" cy="530352"/>
          </a:xfrm>
          <a:prstGeom prst="rect">
            <a:avLst/>
          </a:prstGeom>
          <a:solidFill>
            <a:srgbClr val="F9FBFD"/>
          </a:solidFill>
          <a:ln>
            <a:solidFill>
              <a:srgbClr val="DA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24544" y="1664208"/>
            <a:ext cx="1719072" cy="228600"/>
          </a:xfrm>
          <a:prstGeom prst="rect">
            <a:avLst/>
          </a:prstGeom>
          <a:noFill/>
        </p:spPr>
        <p:txBody>
          <a:bodyPr wrap="none" lIns="25400" rIns="25400" tIns="12700" bIns="12700" anchor="t">
            <a:spAutoFit/>
          </a:bodyPr>
          <a:lstStyle/>
          <a:p>
            <a:pPr algn="ctr"/>
            <a:r>
              <a:rPr sz="1000" b="0">
                <a:solidFill>
                  <a:srgbClr val="1F2937"/>
                </a:solidFill>
                <a:latin typeface="Aptos"/>
              </a:rPr>
              <a:t>None</a:t>
            </a:r>
          </a:p>
        </p:txBody>
      </p:sp>
      <p:sp>
        <p:nvSpPr>
          <p:cNvPr id="20" name="Rectangle 19"/>
          <p:cNvSpPr/>
          <p:nvPr/>
        </p:nvSpPr>
        <p:spPr>
          <a:xfrm>
            <a:off x="5074920" y="2066544"/>
            <a:ext cx="777240" cy="530352"/>
          </a:xfrm>
          <a:prstGeom prst="rect">
            <a:avLst/>
          </a:prstGeom>
          <a:solidFill>
            <a:srgbClr val="EFF4F8"/>
          </a:solidFill>
          <a:ln>
            <a:solidFill>
              <a:srgbClr val="DA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29784" y="2194560"/>
            <a:ext cx="667512" cy="228600"/>
          </a:xfrm>
          <a:prstGeom prst="rect">
            <a:avLst/>
          </a:prstGeom>
          <a:noFill/>
        </p:spPr>
        <p:txBody>
          <a:bodyPr wrap="none" lIns="25400" rIns="25400" tIns="12700" bIns="12700" anchor="t">
            <a:spAutoFit/>
          </a:bodyPr>
          <a:lstStyle/>
          <a:p>
            <a:pPr algn="ctr"/>
            <a:r>
              <a:rPr sz="1000" b="0">
                <a:solidFill>
                  <a:srgbClr val="1F2937"/>
                </a:solidFill>
                <a:latin typeface="Aptos"/>
              </a:rPr>
              <a:t>G1</a:t>
            </a:r>
          </a:p>
        </p:txBody>
      </p:sp>
      <p:sp>
        <p:nvSpPr>
          <p:cNvPr id="22" name="Rectangle 21"/>
          <p:cNvSpPr/>
          <p:nvPr/>
        </p:nvSpPr>
        <p:spPr>
          <a:xfrm>
            <a:off x="5852160" y="2066544"/>
            <a:ext cx="3017520" cy="530352"/>
          </a:xfrm>
          <a:prstGeom prst="rect">
            <a:avLst/>
          </a:prstGeom>
          <a:solidFill>
            <a:srgbClr val="EFF4F8"/>
          </a:solidFill>
          <a:ln>
            <a:solidFill>
              <a:srgbClr val="DA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07024" y="2194560"/>
            <a:ext cx="2907792" cy="228600"/>
          </a:xfrm>
          <a:prstGeom prst="rect">
            <a:avLst/>
          </a:prstGeom>
          <a:noFill/>
        </p:spPr>
        <p:txBody>
          <a:bodyPr wrap="none" lIns="25400" rIns="25400" tIns="12700" bIns="12700" anchor="t">
            <a:spAutoFit/>
          </a:bodyPr>
          <a:lstStyle/>
          <a:p>
            <a:pPr algn="l"/>
            <a:r>
              <a:rPr sz="1000" b="0">
                <a:solidFill>
                  <a:srgbClr val="1F2937"/>
                </a:solidFill>
                <a:latin typeface="Aptos"/>
              </a:rPr>
              <a:t>Original features</a:t>
            </a:r>
          </a:p>
        </p:txBody>
      </p:sp>
      <p:sp>
        <p:nvSpPr>
          <p:cNvPr id="24" name="Rectangle 23"/>
          <p:cNvSpPr/>
          <p:nvPr/>
        </p:nvSpPr>
        <p:spPr>
          <a:xfrm>
            <a:off x="8869680" y="2066544"/>
            <a:ext cx="1828800" cy="530352"/>
          </a:xfrm>
          <a:prstGeom prst="rect">
            <a:avLst/>
          </a:prstGeom>
          <a:solidFill>
            <a:srgbClr val="EFF4F8"/>
          </a:solidFill>
          <a:ln>
            <a:solidFill>
              <a:srgbClr val="DA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24544" y="2194560"/>
            <a:ext cx="1719072" cy="228600"/>
          </a:xfrm>
          <a:prstGeom prst="rect">
            <a:avLst/>
          </a:prstGeom>
          <a:noFill/>
        </p:spPr>
        <p:txBody>
          <a:bodyPr wrap="none" lIns="25400" rIns="25400" tIns="12700" bIns="12700" anchor="t">
            <a:spAutoFit/>
          </a:bodyPr>
          <a:lstStyle/>
          <a:p>
            <a:pPr algn="ctr"/>
            <a:r>
              <a:rPr sz="1000" b="0">
                <a:solidFill>
                  <a:srgbClr val="1F2937"/>
                </a:solidFill>
                <a:latin typeface="Aptos"/>
              </a:rPr>
              <a:t>SMOTE</a:t>
            </a:r>
          </a:p>
        </p:txBody>
      </p:sp>
      <p:sp>
        <p:nvSpPr>
          <p:cNvPr id="26" name="Rectangle 25"/>
          <p:cNvSpPr/>
          <p:nvPr/>
        </p:nvSpPr>
        <p:spPr>
          <a:xfrm>
            <a:off x="5074920" y="2596896"/>
            <a:ext cx="777240" cy="530352"/>
          </a:xfrm>
          <a:prstGeom prst="rect">
            <a:avLst/>
          </a:prstGeom>
          <a:solidFill>
            <a:srgbClr val="F9FBFD"/>
          </a:solidFill>
          <a:ln>
            <a:solidFill>
              <a:srgbClr val="DA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129784" y="2724912"/>
            <a:ext cx="667512" cy="228600"/>
          </a:xfrm>
          <a:prstGeom prst="rect">
            <a:avLst/>
          </a:prstGeom>
          <a:noFill/>
        </p:spPr>
        <p:txBody>
          <a:bodyPr wrap="none" lIns="25400" rIns="25400" tIns="12700" bIns="12700" anchor="t">
            <a:spAutoFit/>
          </a:bodyPr>
          <a:lstStyle/>
          <a:p>
            <a:pPr algn="ctr"/>
            <a:r>
              <a:rPr sz="1000" b="0">
                <a:solidFill>
                  <a:srgbClr val="1F2937"/>
                </a:solidFill>
                <a:latin typeface="Aptos"/>
              </a:rPr>
              <a:t>G2</a:t>
            </a:r>
          </a:p>
        </p:txBody>
      </p:sp>
      <p:sp>
        <p:nvSpPr>
          <p:cNvPr id="28" name="Rectangle 27"/>
          <p:cNvSpPr/>
          <p:nvPr/>
        </p:nvSpPr>
        <p:spPr>
          <a:xfrm>
            <a:off x="5852160" y="2596896"/>
            <a:ext cx="3017520" cy="530352"/>
          </a:xfrm>
          <a:prstGeom prst="rect">
            <a:avLst/>
          </a:prstGeom>
          <a:solidFill>
            <a:srgbClr val="F9FBFD"/>
          </a:solidFill>
          <a:ln>
            <a:solidFill>
              <a:srgbClr val="DA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07024" y="2724912"/>
            <a:ext cx="2907792" cy="228600"/>
          </a:xfrm>
          <a:prstGeom prst="rect">
            <a:avLst/>
          </a:prstGeom>
          <a:noFill/>
        </p:spPr>
        <p:txBody>
          <a:bodyPr wrap="none" lIns="25400" rIns="25400" tIns="12700" bIns="12700" anchor="t">
            <a:spAutoFit/>
          </a:bodyPr>
          <a:lstStyle/>
          <a:p>
            <a:pPr algn="l"/>
            <a:r>
              <a:rPr sz="1000" b="0">
                <a:solidFill>
                  <a:srgbClr val="1F2937"/>
                </a:solidFill>
                <a:latin typeface="Aptos"/>
              </a:rPr>
              <a:t>Original + AE reconstruction</a:t>
            </a:r>
          </a:p>
        </p:txBody>
      </p:sp>
      <p:sp>
        <p:nvSpPr>
          <p:cNvPr id="30" name="Rectangle 29"/>
          <p:cNvSpPr/>
          <p:nvPr/>
        </p:nvSpPr>
        <p:spPr>
          <a:xfrm>
            <a:off x="8869680" y="2596896"/>
            <a:ext cx="1828800" cy="530352"/>
          </a:xfrm>
          <a:prstGeom prst="rect">
            <a:avLst/>
          </a:prstGeom>
          <a:solidFill>
            <a:srgbClr val="F9FBFD"/>
          </a:solidFill>
          <a:ln>
            <a:solidFill>
              <a:srgbClr val="DA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24544" y="2724912"/>
            <a:ext cx="1719072" cy="228600"/>
          </a:xfrm>
          <a:prstGeom prst="rect">
            <a:avLst/>
          </a:prstGeom>
          <a:noFill/>
        </p:spPr>
        <p:txBody>
          <a:bodyPr wrap="none" lIns="25400" rIns="25400" tIns="12700" bIns="12700" anchor="t">
            <a:spAutoFit/>
          </a:bodyPr>
          <a:lstStyle/>
          <a:p>
            <a:pPr algn="ctr"/>
            <a:r>
              <a:rPr sz="1000" b="0">
                <a:solidFill>
                  <a:srgbClr val="1F2937"/>
                </a:solidFill>
                <a:latin typeface="Aptos"/>
              </a:rPr>
              <a:t>None</a:t>
            </a:r>
          </a:p>
        </p:txBody>
      </p:sp>
      <p:sp>
        <p:nvSpPr>
          <p:cNvPr id="32" name="Rectangle 31"/>
          <p:cNvSpPr/>
          <p:nvPr/>
        </p:nvSpPr>
        <p:spPr>
          <a:xfrm>
            <a:off x="5074920" y="3127248"/>
            <a:ext cx="777240" cy="530352"/>
          </a:xfrm>
          <a:prstGeom prst="rect">
            <a:avLst/>
          </a:prstGeom>
          <a:solidFill>
            <a:srgbClr val="EFF4F8"/>
          </a:solidFill>
          <a:ln>
            <a:solidFill>
              <a:srgbClr val="DA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129784" y="3255264"/>
            <a:ext cx="667512" cy="228600"/>
          </a:xfrm>
          <a:prstGeom prst="rect">
            <a:avLst/>
          </a:prstGeom>
          <a:noFill/>
        </p:spPr>
        <p:txBody>
          <a:bodyPr wrap="none" lIns="25400" rIns="25400" tIns="12700" bIns="12700" anchor="t">
            <a:spAutoFit/>
          </a:bodyPr>
          <a:lstStyle/>
          <a:p>
            <a:pPr algn="ctr"/>
            <a:r>
              <a:rPr sz="1000" b="0">
                <a:solidFill>
                  <a:srgbClr val="1F2937"/>
                </a:solidFill>
                <a:latin typeface="Aptos"/>
              </a:rPr>
              <a:t>G3</a:t>
            </a:r>
          </a:p>
        </p:txBody>
      </p:sp>
      <p:sp>
        <p:nvSpPr>
          <p:cNvPr id="34" name="Rectangle 33"/>
          <p:cNvSpPr/>
          <p:nvPr/>
        </p:nvSpPr>
        <p:spPr>
          <a:xfrm>
            <a:off x="5852160" y="3127248"/>
            <a:ext cx="3017520" cy="530352"/>
          </a:xfrm>
          <a:prstGeom prst="rect">
            <a:avLst/>
          </a:prstGeom>
          <a:solidFill>
            <a:srgbClr val="EFF4F8"/>
          </a:solidFill>
          <a:ln>
            <a:solidFill>
              <a:srgbClr val="DA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07024" y="3255264"/>
            <a:ext cx="2907792" cy="228600"/>
          </a:xfrm>
          <a:prstGeom prst="rect">
            <a:avLst/>
          </a:prstGeom>
          <a:noFill/>
        </p:spPr>
        <p:txBody>
          <a:bodyPr wrap="none" lIns="25400" rIns="25400" tIns="12700" bIns="12700" anchor="t">
            <a:spAutoFit/>
          </a:bodyPr>
          <a:lstStyle/>
          <a:p>
            <a:pPr algn="l"/>
            <a:r>
              <a:rPr sz="1000" b="0">
                <a:solidFill>
                  <a:srgbClr val="1F2937"/>
                </a:solidFill>
                <a:latin typeface="Aptos"/>
              </a:rPr>
              <a:t>Original + AE reconstruction</a:t>
            </a:r>
          </a:p>
        </p:txBody>
      </p:sp>
      <p:sp>
        <p:nvSpPr>
          <p:cNvPr id="36" name="Rectangle 35"/>
          <p:cNvSpPr/>
          <p:nvPr/>
        </p:nvSpPr>
        <p:spPr>
          <a:xfrm>
            <a:off x="8869680" y="3127248"/>
            <a:ext cx="1828800" cy="530352"/>
          </a:xfrm>
          <a:prstGeom prst="rect">
            <a:avLst/>
          </a:prstGeom>
          <a:solidFill>
            <a:srgbClr val="EFF4F8"/>
          </a:solidFill>
          <a:ln>
            <a:solidFill>
              <a:srgbClr val="DA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924544" y="3255264"/>
            <a:ext cx="1719072" cy="228600"/>
          </a:xfrm>
          <a:prstGeom prst="rect">
            <a:avLst/>
          </a:prstGeom>
          <a:noFill/>
        </p:spPr>
        <p:txBody>
          <a:bodyPr wrap="none" lIns="25400" rIns="25400" tIns="12700" bIns="12700" anchor="t">
            <a:spAutoFit/>
          </a:bodyPr>
          <a:lstStyle/>
          <a:p>
            <a:pPr algn="ctr"/>
            <a:r>
              <a:rPr sz="1000" b="0">
                <a:solidFill>
                  <a:srgbClr val="1F2937"/>
                </a:solidFill>
                <a:latin typeface="Aptos"/>
              </a:rPr>
              <a:t>SMOTE</a:t>
            </a:r>
          </a:p>
        </p:txBody>
      </p:sp>
      <p:sp>
        <p:nvSpPr>
          <p:cNvPr id="38" name="Rectangle 37"/>
          <p:cNvSpPr/>
          <p:nvPr/>
        </p:nvSpPr>
        <p:spPr>
          <a:xfrm>
            <a:off x="5074920" y="3657600"/>
            <a:ext cx="777240" cy="530352"/>
          </a:xfrm>
          <a:prstGeom prst="rect">
            <a:avLst/>
          </a:prstGeom>
          <a:solidFill>
            <a:srgbClr val="F9FBFD"/>
          </a:solidFill>
          <a:ln>
            <a:solidFill>
              <a:srgbClr val="DA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129784" y="3785616"/>
            <a:ext cx="667512" cy="228600"/>
          </a:xfrm>
          <a:prstGeom prst="rect">
            <a:avLst/>
          </a:prstGeom>
          <a:noFill/>
        </p:spPr>
        <p:txBody>
          <a:bodyPr wrap="none" lIns="25400" rIns="25400" tIns="12700" bIns="12700" anchor="t">
            <a:spAutoFit/>
          </a:bodyPr>
          <a:lstStyle/>
          <a:p>
            <a:pPr algn="ctr"/>
            <a:r>
              <a:rPr sz="1000" b="0">
                <a:solidFill>
                  <a:srgbClr val="1F2937"/>
                </a:solidFill>
                <a:latin typeface="Aptos"/>
              </a:rPr>
              <a:t>G6</a:t>
            </a:r>
          </a:p>
        </p:txBody>
      </p:sp>
      <p:sp>
        <p:nvSpPr>
          <p:cNvPr id="40" name="Rectangle 39"/>
          <p:cNvSpPr/>
          <p:nvPr/>
        </p:nvSpPr>
        <p:spPr>
          <a:xfrm>
            <a:off x="5852160" y="3657600"/>
            <a:ext cx="3017520" cy="530352"/>
          </a:xfrm>
          <a:prstGeom prst="rect">
            <a:avLst/>
          </a:prstGeom>
          <a:solidFill>
            <a:srgbClr val="F9FBFD"/>
          </a:solidFill>
          <a:ln>
            <a:solidFill>
              <a:srgbClr val="DA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907024" y="3785616"/>
            <a:ext cx="2907792" cy="228600"/>
          </a:xfrm>
          <a:prstGeom prst="rect">
            <a:avLst/>
          </a:prstGeom>
          <a:noFill/>
        </p:spPr>
        <p:txBody>
          <a:bodyPr wrap="none" lIns="25400" rIns="25400" tIns="12700" bIns="12700" anchor="t">
            <a:spAutoFit/>
          </a:bodyPr>
          <a:lstStyle/>
          <a:p>
            <a:pPr algn="l"/>
            <a:r>
              <a:rPr sz="1000" b="0">
                <a:solidFill>
                  <a:srgbClr val="1F2937"/>
                </a:solidFill>
                <a:latin typeface="Aptos"/>
              </a:rPr>
              <a:t>Original features</a:t>
            </a:r>
          </a:p>
        </p:txBody>
      </p:sp>
      <p:sp>
        <p:nvSpPr>
          <p:cNvPr id="42" name="Rectangle 41"/>
          <p:cNvSpPr/>
          <p:nvPr/>
        </p:nvSpPr>
        <p:spPr>
          <a:xfrm>
            <a:off x="8869680" y="3657600"/>
            <a:ext cx="1828800" cy="530352"/>
          </a:xfrm>
          <a:prstGeom prst="rect">
            <a:avLst/>
          </a:prstGeom>
          <a:solidFill>
            <a:srgbClr val="F9FBFD"/>
          </a:solidFill>
          <a:ln>
            <a:solidFill>
              <a:srgbClr val="DA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924544" y="3785616"/>
            <a:ext cx="1719072" cy="228600"/>
          </a:xfrm>
          <a:prstGeom prst="rect">
            <a:avLst/>
          </a:prstGeom>
          <a:noFill/>
        </p:spPr>
        <p:txBody>
          <a:bodyPr wrap="none" lIns="25400" rIns="25400" tIns="12700" bIns="12700" anchor="t">
            <a:spAutoFit/>
          </a:bodyPr>
          <a:lstStyle/>
          <a:p>
            <a:pPr algn="ctr"/>
            <a:r>
              <a:rPr sz="1000" b="0">
                <a:solidFill>
                  <a:srgbClr val="1F2937"/>
                </a:solidFill>
                <a:latin typeface="Aptos"/>
              </a:rPr>
              <a:t>Cost-sensitive</a:t>
            </a:r>
          </a:p>
        </p:txBody>
      </p:sp>
      <p:sp>
        <p:nvSpPr>
          <p:cNvPr id="44" name="Rectangle 43"/>
          <p:cNvSpPr/>
          <p:nvPr/>
        </p:nvSpPr>
        <p:spPr>
          <a:xfrm>
            <a:off x="5074920" y="4187952"/>
            <a:ext cx="777240" cy="530352"/>
          </a:xfrm>
          <a:prstGeom prst="rect">
            <a:avLst/>
          </a:prstGeom>
          <a:solidFill>
            <a:srgbClr val="EFF4F8"/>
          </a:solidFill>
          <a:ln>
            <a:solidFill>
              <a:srgbClr val="DA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129784" y="4315968"/>
            <a:ext cx="667512" cy="228600"/>
          </a:xfrm>
          <a:prstGeom prst="rect">
            <a:avLst/>
          </a:prstGeom>
          <a:noFill/>
        </p:spPr>
        <p:txBody>
          <a:bodyPr wrap="none" lIns="25400" rIns="25400" tIns="12700" bIns="12700" anchor="t">
            <a:spAutoFit/>
          </a:bodyPr>
          <a:lstStyle/>
          <a:p>
            <a:pPr algn="ctr"/>
            <a:r>
              <a:rPr sz="1000" b="0">
                <a:solidFill>
                  <a:srgbClr val="1F2937"/>
                </a:solidFill>
                <a:latin typeface="Aptos"/>
              </a:rPr>
              <a:t>G7</a:t>
            </a:r>
          </a:p>
        </p:txBody>
      </p:sp>
      <p:sp>
        <p:nvSpPr>
          <p:cNvPr id="46" name="Rectangle 45"/>
          <p:cNvSpPr/>
          <p:nvPr/>
        </p:nvSpPr>
        <p:spPr>
          <a:xfrm>
            <a:off x="5852160" y="4187952"/>
            <a:ext cx="3017520" cy="530352"/>
          </a:xfrm>
          <a:prstGeom prst="rect">
            <a:avLst/>
          </a:prstGeom>
          <a:solidFill>
            <a:srgbClr val="EFF4F8"/>
          </a:solidFill>
          <a:ln>
            <a:solidFill>
              <a:srgbClr val="DA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907024" y="4315968"/>
            <a:ext cx="2907792" cy="228600"/>
          </a:xfrm>
          <a:prstGeom prst="rect">
            <a:avLst/>
          </a:prstGeom>
          <a:noFill/>
        </p:spPr>
        <p:txBody>
          <a:bodyPr wrap="none" lIns="25400" rIns="25400" tIns="12700" bIns="12700" anchor="t">
            <a:spAutoFit/>
          </a:bodyPr>
          <a:lstStyle/>
          <a:p>
            <a:pPr algn="l"/>
            <a:r>
              <a:rPr sz="1000" b="0">
                <a:solidFill>
                  <a:srgbClr val="1F2937"/>
                </a:solidFill>
                <a:latin typeface="Aptos"/>
              </a:rPr>
              <a:t>Original + AE latent features</a:t>
            </a:r>
          </a:p>
        </p:txBody>
      </p:sp>
      <p:sp>
        <p:nvSpPr>
          <p:cNvPr id="48" name="Rectangle 47"/>
          <p:cNvSpPr/>
          <p:nvPr/>
        </p:nvSpPr>
        <p:spPr>
          <a:xfrm>
            <a:off x="8869680" y="4187952"/>
            <a:ext cx="1828800" cy="530352"/>
          </a:xfrm>
          <a:prstGeom prst="rect">
            <a:avLst/>
          </a:prstGeom>
          <a:solidFill>
            <a:srgbClr val="EFF4F8"/>
          </a:solidFill>
          <a:ln>
            <a:solidFill>
              <a:srgbClr val="DA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924544" y="4315968"/>
            <a:ext cx="1719072" cy="228600"/>
          </a:xfrm>
          <a:prstGeom prst="rect">
            <a:avLst/>
          </a:prstGeom>
          <a:noFill/>
        </p:spPr>
        <p:txBody>
          <a:bodyPr wrap="none" lIns="25400" rIns="25400" tIns="12700" bIns="12700" anchor="t">
            <a:spAutoFit/>
          </a:bodyPr>
          <a:lstStyle/>
          <a:p>
            <a:pPr algn="ctr"/>
            <a:r>
              <a:rPr sz="1000" b="0">
                <a:solidFill>
                  <a:srgbClr val="1F2937"/>
                </a:solidFill>
                <a:latin typeface="Aptos"/>
              </a:rPr>
              <a:t>None</a:t>
            </a:r>
          </a:p>
        </p:txBody>
      </p:sp>
      <p:sp>
        <p:nvSpPr>
          <p:cNvPr id="50" name="Rounded Rectangle 49"/>
          <p:cNvSpPr/>
          <p:nvPr/>
        </p:nvSpPr>
        <p:spPr>
          <a:xfrm>
            <a:off x="5257800" y="4754880"/>
            <a:ext cx="5212080" cy="868680"/>
          </a:xfrm>
          <a:prstGeom prst="roundRect">
            <a:avLst/>
          </a:prstGeom>
          <a:solidFill>
            <a:srgbClr val="EFF4F8"/>
          </a:solidFill>
          <a:ln>
            <a:solidFill>
              <a:srgbClr val="CD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404104" y="4882896"/>
            <a:ext cx="4919472" cy="292608"/>
          </a:xfrm>
          <a:prstGeom prst="rect">
            <a:avLst/>
          </a:prstGeom>
          <a:noFill/>
        </p:spPr>
        <p:txBody>
          <a:bodyPr wrap="none" lIns="25400" rIns="25400" tIns="12700" bIns="12700" anchor="t">
            <a:spAutoFit/>
          </a:bodyPr>
          <a:lstStyle/>
          <a:p>
            <a:pPr algn="l"/>
            <a:r>
              <a:rPr sz="1300" b="1">
                <a:solidFill>
                  <a:srgbClr val="107D70"/>
                </a:solidFill>
                <a:latin typeface="Aptos"/>
              </a:rPr>
              <a:t>Selection discipline</a:t>
            </a:r>
          </a:p>
        </p:txBody>
      </p:sp>
      <p:sp>
        <p:nvSpPr>
          <p:cNvPr id="52" name="TextBox 51"/>
          <p:cNvSpPr txBox="1"/>
          <p:nvPr/>
        </p:nvSpPr>
        <p:spPr>
          <a:xfrm>
            <a:off x="5404104" y="5248656"/>
            <a:ext cx="4919472" cy="246888"/>
          </a:xfrm>
          <a:prstGeom prst="rect">
            <a:avLst/>
          </a:prstGeom>
          <a:noFill/>
        </p:spPr>
        <p:txBody>
          <a:bodyPr wrap="none" lIns="25400" rIns="25400" tIns="12700" bIns="12700" anchor="t">
            <a:spAutoFit/>
          </a:bodyPr>
          <a:lstStyle/>
          <a:p>
            <a:pPr algn="l"/>
            <a:r>
              <a:rPr sz="1100" b="0">
                <a:solidFill>
                  <a:srgbClr val="1F2937"/>
                </a:solidFill>
                <a:latin typeface="Aptos"/>
              </a:rPr>
              <a:t>Detector comparison supplies a reproducible evidence source; it is not the project novelty.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49808"/>
          </a:xfrm>
          <a:prstGeom prst="rect">
            <a:avLst/>
          </a:prstGeom>
          <a:solidFill>
            <a:srgbClr val="10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698480" cy="402336"/>
          </a:xfrm>
          <a:prstGeom prst="rect">
            <a:avLst/>
          </a:prstGeom>
          <a:noFill/>
        </p:spPr>
        <p:txBody>
          <a:bodyPr wrap="none" lIns="25400" rIns="25400" tIns="12700" bIns="12700" anchor="t">
            <a:spAutoFit/>
          </a:bodyPr>
          <a:lstStyle/>
          <a:p>
            <a:pPr algn="l"/>
            <a:r>
              <a:rPr sz="2400" b="1">
                <a:solidFill>
                  <a:srgbClr val="FFFFFF"/>
                </a:solidFill>
                <a:latin typeface="Aptos"/>
              </a:rPr>
              <a:t>Detector Results and Honest Interpretation</a:t>
            </a:r>
          </a:p>
        </p:txBody>
      </p:sp>
      <p:sp>
        <p:nvSpPr>
          <p:cNvPr id="4" name="TextBox 3"/>
          <p:cNvSpPr txBox="1"/>
          <p:nvPr/>
        </p:nvSpPr>
        <p:spPr>
          <a:xfrm>
            <a:off x="11292840" y="173736"/>
            <a:ext cx="384048" cy="347472"/>
          </a:xfrm>
          <a:prstGeom prst="rect">
            <a:avLst/>
          </a:prstGeom>
          <a:noFill/>
        </p:spPr>
        <p:txBody>
          <a:bodyPr wrap="none" lIns="25400" rIns="25400" tIns="12700" bIns="12700" anchor="t">
            <a:spAutoFit/>
          </a:bodyPr>
          <a:lstStyle/>
          <a:p>
            <a:pPr algn="r"/>
            <a:r>
              <a:rPr sz="1500" b="1">
                <a:solidFill>
                  <a:srgbClr val="FFFFFF"/>
                </a:solidFill>
                <a:latin typeface="Aptos"/>
              </a:rPr>
              <a:t>06</a:t>
            </a:r>
          </a:p>
        </p:txBody>
      </p:sp>
      <p:sp>
        <p:nvSpPr>
          <p:cNvPr id="5" name="Rectangle 4"/>
          <p:cNvSpPr/>
          <p:nvPr/>
        </p:nvSpPr>
        <p:spPr>
          <a:xfrm>
            <a:off x="502920" y="6556248"/>
            <a:ext cx="11155680" cy="12700"/>
          </a:xfrm>
          <a:prstGeom prst="rect">
            <a:avLst/>
          </a:prstGeom>
          <a:solidFill>
            <a:srgbClr val="D1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601968"/>
            <a:ext cx="5303520" cy="182880"/>
          </a:xfrm>
          <a:prstGeom prst="rect">
            <a:avLst/>
          </a:prstGeom>
          <a:noFill/>
        </p:spPr>
        <p:txBody>
          <a:bodyPr wrap="none" lIns="25400" rIns="25400" tIns="12700" bIns="12700" anchor="t">
            <a:spAutoFit/>
          </a:bodyPr>
          <a:lstStyle/>
          <a:p>
            <a:pPr algn="l"/>
            <a:r>
              <a:rPr sz="900" b="0">
                <a:solidFill>
                  <a:srgbClr val="5C6979"/>
                </a:solidFill>
                <a:latin typeface="Aptos"/>
              </a:rPr>
              <a:t>Evidence-grounded local-LLM fraud alert review</a:t>
            </a:r>
          </a:p>
        </p:txBody>
      </p:sp>
      <p:sp>
        <p:nvSpPr>
          <p:cNvPr id="7" name="TextBox 6"/>
          <p:cNvSpPr txBox="1"/>
          <p:nvPr/>
        </p:nvSpPr>
        <p:spPr>
          <a:xfrm>
            <a:off x="594360" y="914400"/>
            <a:ext cx="3840480" cy="5257800"/>
          </a:xfrm>
          <a:prstGeom prst="rect">
            <a:avLst/>
          </a:prstGeom>
          <a:noFill/>
        </p:spPr>
        <p:txBody>
          <a:bodyPr wrap="square" lIns="50800" rIns="50800">
            <a:spAutoFit/>
          </a:bodyPr>
          <a:lstStyle/>
          <a:p>
            <a:pPr marL="254000" indent="-203200">
              <a:lnSpc>
                <a:spcPct val="105000"/>
              </a:lnSpc>
              <a:spcAft>
                <a:spcPts val="1000"/>
              </a:spcAft>
              <a:defRPr sz="1700">
                <a:solidFill>
                  <a:srgbClr val="1F2937"/>
                </a:solidFill>
                <a:latin typeface="Aptos"/>
              </a:defRPr>
            </a:pPr>
            <a:r>
              <a:t>•  G6 had the numerically highest mean test AP: 0.855214 ± 0.027097.</a:t>
            </a:r>
          </a:p>
          <a:p>
            <a:pPr marL="254000" indent="-203200">
              <a:lnSpc>
                <a:spcPct val="105000"/>
              </a:lnSpc>
              <a:spcAft>
                <a:spcPts val="1000"/>
              </a:spcAft>
              <a:defRPr sz="1700">
                <a:solidFill>
                  <a:srgbClr val="1F2937"/>
                </a:solidFill>
                <a:latin typeface="Aptos"/>
              </a:defRPr>
            </a:pPr>
            <a:r>
              <a:t>•  G2 had the highest mean F1: 0.870054 ± 0.026465.</a:t>
            </a:r>
          </a:p>
          <a:p>
            <a:pPr marL="254000" indent="-203200">
              <a:lnSpc>
                <a:spcPct val="105000"/>
              </a:lnSpc>
              <a:spcAft>
                <a:spcPts val="1000"/>
              </a:spcAft>
              <a:defRPr sz="1700">
                <a:solidFill>
                  <a:srgbClr val="1F2937"/>
                </a:solidFill>
                <a:latin typeface="Aptos"/>
              </a:defRPr>
            </a:pPr>
            <a:r>
              <a:t>•  G7 had the highest mean recall: 0.816901 ± 0.041063.</a:t>
            </a:r>
          </a:p>
          <a:p>
            <a:pPr marL="254000" indent="-203200">
              <a:lnSpc>
                <a:spcPct val="105000"/>
              </a:lnSpc>
              <a:spcAft>
                <a:spcPts val="1000"/>
              </a:spcAft>
              <a:defRPr sz="1700">
                <a:solidFill>
                  <a:srgbClr val="1F2937"/>
                </a:solidFill>
                <a:latin typeface="Aptos"/>
              </a:defRPr>
            </a:pPr>
            <a:r>
              <a:t>•  G6 had the highest mean precision and lowest mean false-positive count.</a:t>
            </a:r>
          </a:p>
          <a:p>
            <a:pPr marL="254000" indent="-203200">
              <a:lnSpc>
                <a:spcPct val="105000"/>
              </a:lnSpc>
              <a:spcAft>
                <a:spcPts val="1000"/>
              </a:spcAft>
              <a:defRPr sz="1700">
                <a:solidFill>
                  <a:srgbClr val="1F2937"/>
                </a:solidFill>
                <a:latin typeface="Aptos"/>
              </a:defRPr>
            </a:pPr>
            <a:r>
              <a:t>•  No group led every metric, and no ranked-winner claim is made.</a:t>
            </a:r>
          </a:p>
        </p:txBody>
      </p:sp>
      <p:pic>
        <p:nvPicPr>
          <p:cNvPr id="8" name="Picture 7" descr="detector_metric_bars.png"/>
          <p:cNvPicPr>
            <a:picLocks noChangeAspect="1"/>
          </p:cNvPicPr>
          <p:nvPr/>
        </p:nvPicPr>
        <p:blipFill>
          <a:blip r:embed="rId2"/>
          <a:stretch>
            <a:fillRect/>
          </a:stretch>
        </p:blipFill>
        <p:spPr>
          <a:xfrm>
            <a:off x="4526280" y="2177589"/>
            <a:ext cx="7178040" cy="2859437"/>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49808"/>
          </a:xfrm>
          <a:prstGeom prst="rect">
            <a:avLst/>
          </a:prstGeom>
          <a:solidFill>
            <a:srgbClr val="10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698480" cy="402336"/>
          </a:xfrm>
          <a:prstGeom prst="rect">
            <a:avLst/>
          </a:prstGeom>
          <a:noFill/>
        </p:spPr>
        <p:txBody>
          <a:bodyPr wrap="none" lIns="25400" rIns="25400" tIns="12700" bIns="12700" anchor="t">
            <a:spAutoFit/>
          </a:bodyPr>
          <a:lstStyle/>
          <a:p>
            <a:pPr algn="l"/>
            <a:r>
              <a:rPr sz="2400" b="1">
                <a:solidFill>
                  <a:srgbClr val="FFFFFF"/>
                </a:solidFill>
                <a:latin typeface="Aptos"/>
              </a:rPr>
              <a:t>Explanation Boundary: SHAP to Local LLM to Guardrail</a:t>
            </a:r>
          </a:p>
        </p:txBody>
      </p:sp>
      <p:sp>
        <p:nvSpPr>
          <p:cNvPr id="4" name="TextBox 3"/>
          <p:cNvSpPr txBox="1"/>
          <p:nvPr/>
        </p:nvSpPr>
        <p:spPr>
          <a:xfrm>
            <a:off x="11292840" y="173736"/>
            <a:ext cx="384048" cy="347472"/>
          </a:xfrm>
          <a:prstGeom prst="rect">
            <a:avLst/>
          </a:prstGeom>
          <a:noFill/>
        </p:spPr>
        <p:txBody>
          <a:bodyPr wrap="none" lIns="25400" rIns="25400" tIns="12700" bIns="12700" anchor="t">
            <a:spAutoFit/>
          </a:bodyPr>
          <a:lstStyle/>
          <a:p>
            <a:pPr algn="r"/>
            <a:r>
              <a:rPr sz="1500" b="1">
                <a:solidFill>
                  <a:srgbClr val="FFFFFF"/>
                </a:solidFill>
                <a:latin typeface="Aptos"/>
              </a:rPr>
              <a:t>07</a:t>
            </a:r>
          </a:p>
        </p:txBody>
      </p:sp>
      <p:sp>
        <p:nvSpPr>
          <p:cNvPr id="5" name="Rectangle 4"/>
          <p:cNvSpPr/>
          <p:nvPr/>
        </p:nvSpPr>
        <p:spPr>
          <a:xfrm>
            <a:off x="502920" y="6556248"/>
            <a:ext cx="11155680" cy="12700"/>
          </a:xfrm>
          <a:prstGeom prst="rect">
            <a:avLst/>
          </a:prstGeom>
          <a:solidFill>
            <a:srgbClr val="D1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601968"/>
            <a:ext cx="5303520" cy="182880"/>
          </a:xfrm>
          <a:prstGeom prst="rect">
            <a:avLst/>
          </a:prstGeom>
          <a:noFill/>
        </p:spPr>
        <p:txBody>
          <a:bodyPr wrap="none" lIns="25400" rIns="25400" tIns="12700" bIns="12700" anchor="t">
            <a:spAutoFit/>
          </a:bodyPr>
          <a:lstStyle/>
          <a:p>
            <a:pPr algn="l"/>
            <a:r>
              <a:rPr sz="900" b="0">
                <a:solidFill>
                  <a:srgbClr val="5C6979"/>
                </a:solidFill>
                <a:latin typeface="Aptos"/>
              </a:rPr>
              <a:t>Evidence-grounded local-LLM fraud alert review</a:t>
            </a:r>
          </a:p>
        </p:txBody>
      </p:sp>
      <p:sp>
        <p:nvSpPr>
          <p:cNvPr id="7" name="TextBox 6"/>
          <p:cNvSpPr txBox="1"/>
          <p:nvPr/>
        </p:nvSpPr>
        <p:spPr>
          <a:xfrm>
            <a:off x="594360" y="914400"/>
            <a:ext cx="3977639" cy="5257800"/>
          </a:xfrm>
          <a:prstGeom prst="rect">
            <a:avLst/>
          </a:prstGeom>
          <a:noFill/>
        </p:spPr>
        <p:txBody>
          <a:bodyPr wrap="square" lIns="50800" rIns="50800">
            <a:spAutoFit/>
          </a:bodyPr>
          <a:lstStyle/>
          <a:p>
            <a:pPr marL="254000" indent="-203200">
              <a:lnSpc>
                <a:spcPct val="105000"/>
              </a:lnSpc>
              <a:spcAft>
                <a:spcPts val="1000"/>
              </a:spcAft>
              <a:defRPr sz="1700">
                <a:solidFill>
                  <a:srgbClr val="1F2937"/>
                </a:solidFill>
                <a:latin typeface="Aptos"/>
              </a:defRPr>
            </a:pPr>
            <a:r>
              <a:t>•  G4 generated signed SHAP reason codes for 51 flagged ULB test cases.</a:t>
            </a:r>
          </a:p>
          <a:p>
            <a:pPr marL="254000" indent="-203200">
              <a:lnSpc>
                <a:spcPct val="105000"/>
              </a:lnSpc>
              <a:spcAft>
                <a:spcPts val="1000"/>
              </a:spcAft>
              <a:defRPr sz="1700">
                <a:solidFill>
                  <a:srgbClr val="1F2937"/>
                </a:solidFill>
                <a:latin typeface="Aptos"/>
              </a:defRPr>
            </a:pPr>
            <a:r>
              <a:t>•  The LLM payload excluded raw rows, exact values, labels, probabilities, and SHAP magnitudes.</a:t>
            </a:r>
          </a:p>
          <a:p>
            <a:pPr marL="254000" indent="-203200">
              <a:lnSpc>
                <a:spcPct val="105000"/>
              </a:lnSpc>
              <a:spcAft>
                <a:spcPts val="1000"/>
              </a:spcAft>
              <a:defRPr sz="1700">
                <a:solidFill>
                  <a:srgbClr val="1F2937"/>
                </a:solidFill>
                <a:latin typeface="Aptos"/>
              </a:defRPr>
            </a:pPr>
            <a:r>
              <a:t>•  OFF-policy analysis measures raw LLM violations.</a:t>
            </a:r>
          </a:p>
          <a:p>
            <a:pPr marL="254000" indent="-203200">
              <a:lnSpc>
                <a:spcPct val="105000"/>
              </a:lnSpc>
              <a:spcAft>
                <a:spcPts val="1000"/>
              </a:spcAft>
              <a:defRPr sz="1700">
                <a:solidFill>
                  <a:srgbClr val="1F2937"/>
                </a:solidFill>
                <a:latin typeface="Aptos"/>
              </a:defRPr>
            </a:pPr>
            <a:r>
              <a:t>•  ON-policy delivery validates the same raw output and falls back on failure.</a:t>
            </a:r>
          </a:p>
          <a:p>
            <a:pPr marL="254000" indent="-203200">
              <a:lnSpc>
                <a:spcPct val="105000"/>
              </a:lnSpc>
              <a:spcAft>
                <a:spcPts val="1000"/>
              </a:spcAft>
              <a:defRPr sz="1700">
                <a:solidFill>
                  <a:srgbClr val="1F2937"/>
                </a:solidFill>
                <a:latin typeface="Aptos"/>
              </a:defRPr>
            </a:pPr>
            <a:r>
              <a:t>•  Fallback is generated from reason codes, not from rejected prose.</a:t>
            </a:r>
          </a:p>
        </p:txBody>
      </p:sp>
      <p:sp>
        <p:nvSpPr>
          <p:cNvPr id="8" name="Rounded Rectangle 7"/>
          <p:cNvSpPr/>
          <p:nvPr/>
        </p:nvSpPr>
        <p:spPr>
          <a:xfrm>
            <a:off x="4754880" y="1051560"/>
            <a:ext cx="2743200" cy="1170432"/>
          </a:xfrm>
          <a:prstGeom prst="roundRect">
            <a:avLst/>
          </a:prstGeom>
          <a:solidFill>
            <a:srgbClr val="EFF4F8"/>
          </a:solidFill>
          <a:ln>
            <a:solidFill>
              <a:srgbClr val="CD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901184" y="1179576"/>
            <a:ext cx="2450592" cy="292608"/>
          </a:xfrm>
          <a:prstGeom prst="rect">
            <a:avLst/>
          </a:prstGeom>
          <a:noFill/>
        </p:spPr>
        <p:txBody>
          <a:bodyPr wrap="none" lIns="25400" rIns="25400" tIns="12700" bIns="12700" anchor="t">
            <a:spAutoFit/>
          </a:bodyPr>
          <a:lstStyle/>
          <a:p>
            <a:pPr algn="l"/>
            <a:r>
              <a:rPr sz="1200" b="1">
                <a:solidFill>
                  <a:srgbClr val="2463AB"/>
                </a:solidFill>
                <a:latin typeface="Aptos"/>
              </a:rPr>
              <a:t>SHAP reason codes</a:t>
            </a:r>
          </a:p>
        </p:txBody>
      </p:sp>
      <p:sp>
        <p:nvSpPr>
          <p:cNvPr id="10" name="TextBox 9"/>
          <p:cNvSpPr txBox="1"/>
          <p:nvPr/>
        </p:nvSpPr>
        <p:spPr>
          <a:xfrm>
            <a:off x="4901184" y="1545336"/>
            <a:ext cx="2450592" cy="548640"/>
          </a:xfrm>
          <a:prstGeom prst="rect">
            <a:avLst/>
          </a:prstGeom>
          <a:noFill/>
        </p:spPr>
        <p:txBody>
          <a:bodyPr wrap="none" lIns="25400" rIns="25400" tIns="12700" bIns="12700" anchor="t">
            <a:spAutoFit/>
          </a:bodyPr>
          <a:lstStyle/>
          <a:p>
            <a:pPr algn="l"/>
            <a:r>
              <a:rPr sz="1000" b="0">
                <a:solidFill>
                  <a:srgbClr val="1F2937"/>
                </a:solidFill>
                <a:latin typeface="Aptos"/>
              </a:rPr>
              <a:t>rank + feature + direction</a:t>
            </a:r>
          </a:p>
        </p:txBody>
      </p:sp>
      <p:sp>
        <p:nvSpPr>
          <p:cNvPr id="11" name="TextBox 10"/>
          <p:cNvSpPr txBox="1"/>
          <p:nvPr/>
        </p:nvSpPr>
        <p:spPr>
          <a:xfrm>
            <a:off x="7543800" y="1435608"/>
            <a:ext cx="292608" cy="256032"/>
          </a:xfrm>
          <a:prstGeom prst="rect">
            <a:avLst/>
          </a:prstGeom>
          <a:noFill/>
        </p:spPr>
        <p:txBody>
          <a:bodyPr wrap="none" lIns="25400" rIns="25400" tIns="12700" bIns="12700" anchor="t">
            <a:spAutoFit/>
          </a:bodyPr>
          <a:lstStyle/>
          <a:p>
            <a:pPr algn="ctr"/>
            <a:r>
              <a:rPr sz="1900" b="1">
                <a:solidFill>
                  <a:srgbClr val="5C6979"/>
                </a:solidFill>
                <a:latin typeface="Aptos"/>
              </a:rPr>
              <a:t>→</a:t>
            </a:r>
          </a:p>
        </p:txBody>
      </p:sp>
      <p:sp>
        <p:nvSpPr>
          <p:cNvPr id="12" name="Rounded Rectangle 11"/>
          <p:cNvSpPr/>
          <p:nvPr/>
        </p:nvSpPr>
        <p:spPr>
          <a:xfrm>
            <a:off x="7909560" y="1051560"/>
            <a:ext cx="2743200" cy="1170432"/>
          </a:xfrm>
          <a:prstGeom prst="roundRect">
            <a:avLst/>
          </a:prstGeom>
          <a:solidFill>
            <a:srgbClr val="EFF4F8"/>
          </a:solidFill>
          <a:ln>
            <a:solidFill>
              <a:srgbClr val="CD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55864" y="1179576"/>
            <a:ext cx="2450592" cy="292608"/>
          </a:xfrm>
          <a:prstGeom prst="rect">
            <a:avLst/>
          </a:prstGeom>
          <a:noFill/>
        </p:spPr>
        <p:txBody>
          <a:bodyPr wrap="none" lIns="25400" rIns="25400" tIns="12700" bIns="12700" anchor="t">
            <a:spAutoFit/>
          </a:bodyPr>
          <a:lstStyle/>
          <a:p>
            <a:pPr algn="l"/>
            <a:r>
              <a:rPr sz="1200" b="1">
                <a:solidFill>
                  <a:srgbClr val="107D70"/>
                </a:solidFill>
                <a:latin typeface="Aptos"/>
              </a:rPr>
              <a:t>Minimized LLM payload</a:t>
            </a:r>
          </a:p>
        </p:txBody>
      </p:sp>
      <p:sp>
        <p:nvSpPr>
          <p:cNvPr id="14" name="TextBox 13"/>
          <p:cNvSpPr txBox="1"/>
          <p:nvPr/>
        </p:nvSpPr>
        <p:spPr>
          <a:xfrm>
            <a:off x="8055864" y="1545336"/>
            <a:ext cx="2450592" cy="548640"/>
          </a:xfrm>
          <a:prstGeom prst="rect">
            <a:avLst/>
          </a:prstGeom>
          <a:noFill/>
        </p:spPr>
        <p:txBody>
          <a:bodyPr wrap="none" lIns="25400" rIns="25400" tIns="12700" bIns="12700" anchor="t">
            <a:spAutoFit/>
          </a:bodyPr>
          <a:lstStyle/>
          <a:p>
            <a:pPr algn="l"/>
            <a:r>
              <a:rPr sz="1000" b="0">
                <a:solidFill>
                  <a:srgbClr val="1F2937"/>
                </a:solidFill>
                <a:latin typeface="Aptos"/>
              </a:rPr>
              <a:t>no row, labels, score, SHAP magnitude</a:t>
            </a:r>
          </a:p>
        </p:txBody>
      </p:sp>
      <p:sp>
        <p:nvSpPr>
          <p:cNvPr id="15" name="Rounded Rectangle 14"/>
          <p:cNvSpPr/>
          <p:nvPr/>
        </p:nvSpPr>
        <p:spPr>
          <a:xfrm>
            <a:off x="4754880" y="2880360"/>
            <a:ext cx="2743200" cy="1170432"/>
          </a:xfrm>
          <a:prstGeom prst="roundRect">
            <a:avLst/>
          </a:prstGeom>
          <a:solidFill>
            <a:srgbClr val="EFF4F8"/>
          </a:solidFill>
          <a:ln>
            <a:solidFill>
              <a:srgbClr val="CD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01184" y="3008376"/>
            <a:ext cx="2450592" cy="292608"/>
          </a:xfrm>
          <a:prstGeom prst="rect">
            <a:avLst/>
          </a:prstGeom>
          <a:noFill/>
        </p:spPr>
        <p:txBody>
          <a:bodyPr wrap="none" lIns="25400" rIns="25400" tIns="12700" bIns="12700" anchor="t">
            <a:spAutoFit/>
          </a:bodyPr>
          <a:lstStyle/>
          <a:p>
            <a:pPr algn="l"/>
            <a:r>
              <a:rPr sz="1200" b="1">
                <a:solidFill>
                  <a:srgbClr val="CA7736"/>
                </a:solidFill>
                <a:latin typeface="Aptos"/>
              </a:rPr>
              <a:t>Raw candidate</a:t>
            </a:r>
          </a:p>
        </p:txBody>
      </p:sp>
      <p:sp>
        <p:nvSpPr>
          <p:cNvPr id="17" name="TextBox 16"/>
          <p:cNvSpPr txBox="1"/>
          <p:nvPr/>
        </p:nvSpPr>
        <p:spPr>
          <a:xfrm>
            <a:off x="4901184" y="3374136"/>
            <a:ext cx="2450592" cy="548640"/>
          </a:xfrm>
          <a:prstGeom prst="rect">
            <a:avLst/>
          </a:prstGeom>
          <a:noFill/>
        </p:spPr>
        <p:txBody>
          <a:bodyPr wrap="none" lIns="25400" rIns="25400" tIns="12700" bIns="12700" anchor="t">
            <a:spAutoFit/>
          </a:bodyPr>
          <a:lstStyle/>
          <a:p>
            <a:pPr algn="l"/>
            <a:r>
              <a:rPr sz="1000" b="0">
                <a:solidFill>
                  <a:srgbClr val="1F2937"/>
                </a:solidFill>
                <a:latin typeface="Aptos"/>
              </a:rPr>
              <a:t>preserved for OFF-policy measurement</a:t>
            </a:r>
          </a:p>
        </p:txBody>
      </p:sp>
      <p:sp>
        <p:nvSpPr>
          <p:cNvPr id="18" name="TextBox 17"/>
          <p:cNvSpPr txBox="1"/>
          <p:nvPr/>
        </p:nvSpPr>
        <p:spPr>
          <a:xfrm>
            <a:off x="7543800" y="3264408"/>
            <a:ext cx="292608" cy="256032"/>
          </a:xfrm>
          <a:prstGeom prst="rect">
            <a:avLst/>
          </a:prstGeom>
          <a:noFill/>
        </p:spPr>
        <p:txBody>
          <a:bodyPr wrap="none" lIns="25400" rIns="25400" tIns="12700" bIns="12700" anchor="t">
            <a:spAutoFit/>
          </a:bodyPr>
          <a:lstStyle/>
          <a:p>
            <a:pPr algn="ctr"/>
            <a:r>
              <a:rPr sz="1900" b="1">
                <a:solidFill>
                  <a:srgbClr val="5C6979"/>
                </a:solidFill>
                <a:latin typeface="Aptos"/>
              </a:rPr>
              <a:t>→</a:t>
            </a:r>
          </a:p>
        </p:txBody>
      </p:sp>
      <p:sp>
        <p:nvSpPr>
          <p:cNvPr id="19" name="Rounded Rectangle 18"/>
          <p:cNvSpPr/>
          <p:nvPr/>
        </p:nvSpPr>
        <p:spPr>
          <a:xfrm>
            <a:off x="7909560" y="2880360"/>
            <a:ext cx="2743200" cy="1170432"/>
          </a:xfrm>
          <a:prstGeom prst="roundRect">
            <a:avLst/>
          </a:prstGeom>
          <a:solidFill>
            <a:srgbClr val="EFF4F8"/>
          </a:solidFill>
          <a:ln>
            <a:solidFill>
              <a:srgbClr val="CD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55864" y="3008376"/>
            <a:ext cx="2450592" cy="292608"/>
          </a:xfrm>
          <a:prstGeom prst="rect">
            <a:avLst/>
          </a:prstGeom>
          <a:noFill/>
        </p:spPr>
        <p:txBody>
          <a:bodyPr wrap="none" lIns="25400" rIns="25400" tIns="12700" bIns="12700" anchor="t">
            <a:spAutoFit/>
          </a:bodyPr>
          <a:lstStyle/>
          <a:p>
            <a:pPr algn="l"/>
            <a:r>
              <a:rPr sz="1200" b="1">
                <a:solidFill>
                  <a:srgbClr val="B53737"/>
                </a:solidFill>
                <a:latin typeface="Aptos"/>
              </a:rPr>
              <a:t>Validator</a:t>
            </a:r>
          </a:p>
        </p:txBody>
      </p:sp>
      <p:sp>
        <p:nvSpPr>
          <p:cNvPr id="21" name="TextBox 20"/>
          <p:cNvSpPr txBox="1"/>
          <p:nvPr/>
        </p:nvSpPr>
        <p:spPr>
          <a:xfrm>
            <a:off x="8055864" y="3374136"/>
            <a:ext cx="2450592" cy="548640"/>
          </a:xfrm>
          <a:prstGeom prst="rect">
            <a:avLst/>
          </a:prstGeom>
          <a:noFill/>
        </p:spPr>
        <p:txBody>
          <a:bodyPr wrap="none" lIns="25400" rIns="25400" tIns="12700" bIns="12700" anchor="t">
            <a:spAutoFit/>
          </a:bodyPr>
          <a:lstStyle/>
          <a:p>
            <a:pPr algn="l"/>
            <a:r>
              <a:rPr sz="1000" b="0">
                <a:solidFill>
                  <a:srgbClr val="1F2937"/>
                </a:solidFill>
                <a:latin typeface="Aptos"/>
              </a:rPr>
              <a:t>format • completeness • grounding • direction</a:t>
            </a:r>
          </a:p>
        </p:txBody>
      </p:sp>
      <p:sp>
        <p:nvSpPr>
          <p:cNvPr id="22" name="Rounded Rectangle 21"/>
          <p:cNvSpPr/>
          <p:nvPr/>
        </p:nvSpPr>
        <p:spPr>
          <a:xfrm>
            <a:off x="5074920" y="4937760"/>
            <a:ext cx="2468880" cy="822960"/>
          </a:xfrm>
          <a:prstGeom prst="roundRect">
            <a:avLst/>
          </a:prstGeom>
          <a:solidFill>
            <a:srgbClr val="EFF4F8"/>
          </a:solidFill>
          <a:ln>
            <a:solidFill>
              <a:srgbClr val="CD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21224" y="5065776"/>
            <a:ext cx="2176272" cy="292608"/>
          </a:xfrm>
          <a:prstGeom prst="rect">
            <a:avLst/>
          </a:prstGeom>
          <a:noFill/>
        </p:spPr>
        <p:txBody>
          <a:bodyPr wrap="none" lIns="25400" rIns="25400" tIns="12700" bIns="12700" anchor="t">
            <a:spAutoFit/>
          </a:bodyPr>
          <a:lstStyle/>
          <a:p>
            <a:pPr algn="l"/>
            <a:r>
              <a:rPr sz="1300" b="1">
                <a:solidFill>
                  <a:srgbClr val="107D70"/>
                </a:solidFill>
                <a:latin typeface="Aptos"/>
              </a:rPr>
              <a:t>PASS</a:t>
            </a:r>
          </a:p>
        </p:txBody>
      </p:sp>
      <p:sp>
        <p:nvSpPr>
          <p:cNvPr id="24" name="TextBox 23"/>
          <p:cNvSpPr txBox="1"/>
          <p:nvPr/>
        </p:nvSpPr>
        <p:spPr>
          <a:xfrm>
            <a:off x="5221224" y="5431536"/>
            <a:ext cx="2176272" cy="201168"/>
          </a:xfrm>
          <a:prstGeom prst="rect">
            <a:avLst/>
          </a:prstGeom>
          <a:noFill/>
        </p:spPr>
        <p:txBody>
          <a:bodyPr wrap="none" lIns="25400" rIns="25400" tIns="12700" bIns="12700" anchor="t">
            <a:spAutoFit/>
          </a:bodyPr>
          <a:lstStyle/>
          <a:p>
            <a:pPr algn="l"/>
            <a:r>
              <a:rPr sz="1000" b="0">
                <a:solidFill>
                  <a:srgbClr val="1F2937"/>
                </a:solidFill>
                <a:latin typeface="Aptos"/>
              </a:rPr>
              <a:t>deliver candidate unchanged</a:t>
            </a:r>
          </a:p>
        </p:txBody>
      </p:sp>
      <p:sp>
        <p:nvSpPr>
          <p:cNvPr id="25" name="Rounded Rectangle 24"/>
          <p:cNvSpPr/>
          <p:nvPr/>
        </p:nvSpPr>
        <p:spPr>
          <a:xfrm>
            <a:off x="8229600" y="4937760"/>
            <a:ext cx="2468880" cy="822960"/>
          </a:xfrm>
          <a:prstGeom prst="roundRect">
            <a:avLst/>
          </a:prstGeom>
          <a:solidFill>
            <a:srgbClr val="EFF4F8"/>
          </a:solidFill>
          <a:ln>
            <a:solidFill>
              <a:srgbClr val="CD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75904" y="5065776"/>
            <a:ext cx="2176272" cy="292608"/>
          </a:xfrm>
          <a:prstGeom prst="rect">
            <a:avLst/>
          </a:prstGeom>
          <a:noFill/>
        </p:spPr>
        <p:txBody>
          <a:bodyPr wrap="none" lIns="25400" rIns="25400" tIns="12700" bIns="12700" anchor="t">
            <a:spAutoFit/>
          </a:bodyPr>
          <a:lstStyle/>
          <a:p>
            <a:pPr algn="l"/>
            <a:r>
              <a:rPr sz="1300" b="1">
                <a:solidFill>
                  <a:srgbClr val="B53737"/>
                </a:solidFill>
                <a:latin typeface="Aptos"/>
              </a:rPr>
              <a:t>FAIL / OUTAGE</a:t>
            </a:r>
          </a:p>
        </p:txBody>
      </p:sp>
      <p:sp>
        <p:nvSpPr>
          <p:cNvPr id="27" name="TextBox 26"/>
          <p:cNvSpPr txBox="1"/>
          <p:nvPr/>
        </p:nvSpPr>
        <p:spPr>
          <a:xfrm>
            <a:off x="8375904" y="5431536"/>
            <a:ext cx="2176272" cy="201168"/>
          </a:xfrm>
          <a:prstGeom prst="rect">
            <a:avLst/>
          </a:prstGeom>
          <a:noFill/>
        </p:spPr>
        <p:txBody>
          <a:bodyPr wrap="none" lIns="25400" rIns="25400" tIns="12700" bIns="12700" anchor="t">
            <a:spAutoFit/>
          </a:bodyPr>
          <a:lstStyle/>
          <a:p>
            <a:pPr algn="l"/>
            <a:r>
              <a:rPr sz="1000" b="0">
                <a:solidFill>
                  <a:srgbClr val="1F2937"/>
                </a:solidFill>
                <a:latin typeface="Aptos"/>
              </a:rPr>
              <a:t>deliver deterministic fallback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49808"/>
          </a:xfrm>
          <a:prstGeom prst="rect">
            <a:avLst/>
          </a:prstGeom>
          <a:solidFill>
            <a:srgbClr val="10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698480" cy="402336"/>
          </a:xfrm>
          <a:prstGeom prst="rect">
            <a:avLst/>
          </a:prstGeom>
          <a:noFill/>
        </p:spPr>
        <p:txBody>
          <a:bodyPr wrap="none" lIns="25400" rIns="25400" tIns="12700" bIns="12700" anchor="t">
            <a:spAutoFit/>
          </a:bodyPr>
          <a:lstStyle/>
          <a:p>
            <a:pPr algn="l"/>
            <a:r>
              <a:rPr sz="2400" b="1">
                <a:solidFill>
                  <a:srgbClr val="FFFFFF"/>
                </a:solidFill>
                <a:latin typeface="Aptos"/>
              </a:rPr>
              <a:t>Guardrail Results: Why Validation Matters</a:t>
            </a:r>
          </a:p>
        </p:txBody>
      </p:sp>
      <p:sp>
        <p:nvSpPr>
          <p:cNvPr id="4" name="TextBox 3"/>
          <p:cNvSpPr txBox="1"/>
          <p:nvPr/>
        </p:nvSpPr>
        <p:spPr>
          <a:xfrm>
            <a:off x="11292840" y="173736"/>
            <a:ext cx="384048" cy="347472"/>
          </a:xfrm>
          <a:prstGeom prst="rect">
            <a:avLst/>
          </a:prstGeom>
          <a:noFill/>
        </p:spPr>
        <p:txBody>
          <a:bodyPr wrap="none" lIns="25400" rIns="25400" tIns="12700" bIns="12700" anchor="t">
            <a:spAutoFit/>
          </a:bodyPr>
          <a:lstStyle/>
          <a:p>
            <a:pPr algn="r"/>
            <a:r>
              <a:rPr sz="1500" b="1">
                <a:solidFill>
                  <a:srgbClr val="FFFFFF"/>
                </a:solidFill>
                <a:latin typeface="Aptos"/>
              </a:rPr>
              <a:t>08</a:t>
            </a:r>
          </a:p>
        </p:txBody>
      </p:sp>
      <p:sp>
        <p:nvSpPr>
          <p:cNvPr id="5" name="Rectangle 4"/>
          <p:cNvSpPr/>
          <p:nvPr/>
        </p:nvSpPr>
        <p:spPr>
          <a:xfrm>
            <a:off x="502920" y="6556248"/>
            <a:ext cx="11155680" cy="12700"/>
          </a:xfrm>
          <a:prstGeom prst="rect">
            <a:avLst/>
          </a:prstGeom>
          <a:solidFill>
            <a:srgbClr val="D1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601968"/>
            <a:ext cx="5303520" cy="182880"/>
          </a:xfrm>
          <a:prstGeom prst="rect">
            <a:avLst/>
          </a:prstGeom>
          <a:noFill/>
        </p:spPr>
        <p:txBody>
          <a:bodyPr wrap="none" lIns="25400" rIns="25400" tIns="12700" bIns="12700" anchor="t">
            <a:spAutoFit/>
          </a:bodyPr>
          <a:lstStyle/>
          <a:p>
            <a:pPr algn="l"/>
            <a:r>
              <a:rPr sz="900" b="0">
                <a:solidFill>
                  <a:srgbClr val="5C6979"/>
                </a:solidFill>
                <a:latin typeface="Aptos"/>
              </a:rPr>
              <a:t>Evidence-grounded local-LLM fraud alert review</a:t>
            </a:r>
          </a:p>
        </p:txBody>
      </p:sp>
      <p:sp>
        <p:nvSpPr>
          <p:cNvPr id="7" name="TextBox 6"/>
          <p:cNvSpPr txBox="1"/>
          <p:nvPr/>
        </p:nvSpPr>
        <p:spPr>
          <a:xfrm>
            <a:off x="594360" y="914400"/>
            <a:ext cx="3840480" cy="5257800"/>
          </a:xfrm>
          <a:prstGeom prst="rect">
            <a:avLst/>
          </a:prstGeom>
          <a:noFill/>
        </p:spPr>
        <p:txBody>
          <a:bodyPr wrap="square" lIns="50800" rIns="50800">
            <a:spAutoFit/>
          </a:bodyPr>
          <a:lstStyle/>
          <a:p>
            <a:pPr marL="254000" indent="-203200">
              <a:lnSpc>
                <a:spcPct val="105000"/>
              </a:lnSpc>
              <a:spcAft>
                <a:spcPts val="1000"/>
              </a:spcAft>
              <a:defRPr sz="1700">
                <a:solidFill>
                  <a:srgbClr val="1F2937"/>
                </a:solidFill>
                <a:latin typeface="Aptos"/>
              </a:defRPr>
            </a:pPr>
            <a:r>
              <a:t>•  ULB strict prompt: 2/51 detected-any violations, 3.92% [1.08%, 13.22%].</a:t>
            </a:r>
          </a:p>
          <a:p>
            <a:pPr marL="254000" indent="-203200">
              <a:lnSpc>
                <a:spcPct val="105000"/>
              </a:lnSpc>
              <a:spcAft>
                <a:spcPts val="1000"/>
              </a:spcAft>
              <a:defRPr sz="1700">
                <a:solidFill>
                  <a:srgbClr val="1F2937"/>
                </a:solidFill>
                <a:latin typeface="Aptos"/>
              </a:defRPr>
            </a:pPr>
            <a:r>
              <a:t>•  ULB simple prompt: 51/51 detected-any violations, 100% [93.00%, 100%].</a:t>
            </a:r>
          </a:p>
          <a:p>
            <a:pPr marL="254000" indent="-203200">
              <a:lnSpc>
                <a:spcPct val="105000"/>
              </a:lnSpc>
              <a:spcAft>
                <a:spcPts val="1000"/>
              </a:spcAft>
              <a:defRPr sz="1700">
                <a:solidFill>
                  <a:srgbClr val="1F2937"/>
                </a:solidFill>
                <a:latin typeface="Aptos"/>
              </a:defRPr>
            </a:pPr>
            <a:r>
              <a:t>•  Every detected failure activated deterministic fallback.</a:t>
            </a:r>
          </a:p>
          <a:p>
            <a:pPr marL="254000" indent="-203200">
              <a:lnSpc>
                <a:spcPct val="105000"/>
              </a:lnSpc>
              <a:spcAft>
                <a:spcPts val="1000"/>
              </a:spcAft>
              <a:defRPr sz="1700">
                <a:solidFill>
                  <a:srgbClr val="1F2937"/>
                </a:solidFill>
                <a:latin typeface="Aptos"/>
              </a:defRPr>
            </a:pPr>
            <a:r>
              <a:t>•  Corpus calibration intercepted 330/330 ULB attacks and accepted 318/318 faithful controls.</a:t>
            </a:r>
          </a:p>
          <a:p>
            <a:pPr marL="254000" indent="-203200">
              <a:lnSpc>
                <a:spcPct val="105000"/>
              </a:lnSpc>
              <a:spcAft>
                <a:spcPts val="1000"/>
              </a:spcAft>
              <a:defRPr sz="1700">
                <a:solidFill>
                  <a:srgbClr val="1F2937"/>
                </a:solidFill>
                <a:latin typeface="Aptos"/>
              </a:defRPr>
            </a:pPr>
            <a:r>
              <a:t>•  Blinded manual audit: 0/49 delivered strict narratives had a semantic violation [0%, 7.27%].</a:t>
            </a:r>
          </a:p>
          <a:p>
            <a:pPr marL="254000" indent="-203200">
              <a:lnSpc>
                <a:spcPct val="105000"/>
              </a:lnSpc>
              <a:spcAft>
                <a:spcPts val="1000"/>
              </a:spcAft>
              <a:defRPr sz="1700">
                <a:solidFill>
                  <a:srgbClr val="1F2937"/>
                </a:solidFill>
                <a:latin typeface="Aptos"/>
              </a:defRPr>
            </a:pPr>
            <a:r>
              <a:t>•  The audit used one student reviewer; it is bounded evidence, not universal proof.</a:t>
            </a:r>
          </a:p>
        </p:txBody>
      </p:sp>
      <p:pic>
        <p:nvPicPr>
          <p:cNvPr id="8" name="Picture 7" descr="narrative_delivery_bars.png"/>
          <p:cNvPicPr>
            <a:picLocks noChangeAspect="1"/>
          </p:cNvPicPr>
          <p:nvPr/>
        </p:nvPicPr>
        <p:blipFill>
          <a:blip r:embed="rId2"/>
          <a:stretch>
            <a:fillRect/>
          </a:stretch>
        </p:blipFill>
        <p:spPr>
          <a:xfrm>
            <a:off x="4526280" y="1352778"/>
            <a:ext cx="7178040" cy="4509058"/>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49808"/>
          </a:xfrm>
          <a:prstGeom prst="rect">
            <a:avLst/>
          </a:prstGeom>
          <a:solidFill>
            <a:srgbClr val="10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698480" cy="402336"/>
          </a:xfrm>
          <a:prstGeom prst="rect">
            <a:avLst/>
          </a:prstGeom>
          <a:noFill/>
        </p:spPr>
        <p:txBody>
          <a:bodyPr wrap="none" lIns="25400" rIns="25400" tIns="12700" bIns="12700" anchor="t">
            <a:spAutoFit/>
          </a:bodyPr>
          <a:lstStyle/>
          <a:p>
            <a:pPr algn="l"/>
            <a:r>
              <a:rPr sz="2400" b="1">
                <a:solidFill>
                  <a:srgbClr val="FFFFFF"/>
                </a:solidFill>
                <a:latin typeface="Aptos"/>
              </a:rPr>
              <a:t>S0 Operational Study and Application</a:t>
            </a:r>
          </a:p>
        </p:txBody>
      </p:sp>
      <p:sp>
        <p:nvSpPr>
          <p:cNvPr id="4" name="TextBox 3"/>
          <p:cNvSpPr txBox="1"/>
          <p:nvPr/>
        </p:nvSpPr>
        <p:spPr>
          <a:xfrm>
            <a:off x="11292840" y="173736"/>
            <a:ext cx="384048" cy="347472"/>
          </a:xfrm>
          <a:prstGeom prst="rect">
            <a:avLst/>
          </a:prstGeom>
          <a:noFill/>
        </p:spPr>
        <p:txBody>
          <a:bodyPr wrap="none" lIns="25400" rIns="25400" tIns="12700" bIns="12700" anchor="t">
            <a:spAutoFit/>
          </a:bodyPr>
          <a:lstStyle/>
          <a:p>
            <a:pPr algn="r"/>
            <a:r>
              <a:rPr sz="1500" b="1">
                <a:solidFill>
                  <a:srgbClr val="FFFFFF"/>
                </a:solidFill>
                <a:latin typeface="Aptos"/>
              </a:rPr>
              <a:t>09</a:t>
            </a:r>
          </a:p>
        </p:txBody>
      </p:sp>
      <p:sp>
        <p:nvSpPr>
          <p:cNvPr id="5" name="Rectangle 4"/>
          <p:cNvSpPr/>
          <p:nvPr/>
        </p:nvSpPr>
        <p:spPr>
          <a:xfrm>
            <a:off x="502920" y="6556248"/>
            <a:ext cx="11155680" cy="12700"/>
          </a:xfrm>
          <a:prstGeom prst="rect">
            <a:avLst/>
          </a:prstGeom>
          <a:solidFill>
            <a:srgbClr val="D1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601968"/>
            <a:ext cx="5303520" cy="182880"/>
          </a:xfrm>
          <a:prstGeom prst="rect">
            <a:avLst/>
          </a:prstGeom>
          <a:noFill/>
        </p:spPr>
        <p:txBody>
          <a:bodyPr wrap="none" lIns="25400" rIns="25400" tIns="12700" bIns="12700" anchor="t">
            <a:spAutoFit/>
          </a:bodyPr>
          <a:lstStyle/>
          <a:p>
            <a:pPr algn="l"/>
            <a:r>
              <a:rPr sz="900" b="0">
                <a:solidFill>
                  <a:srgbClr val="5C6979"/>
                </a:solidFill>
                <a:latin typeface="Aptos"/>
              </a:rPr>
              <a:t>Evidence-grounded local-LLM fraud alert review</a:t>
            </a:r>
          </a:p>
        </p:txBody>
      </p:sp>
      <p:sp>
        <p:nvSpPr>
          <p:cNvPr id="7" name="TextBox 6"/>
          <p:cNvSpPr txBox="1"/>
          <p:nvPr/>
        </p:nvSpPr>
        <p:spPr>
          <a:xfrm>
            <a:off x="594360" y="914400"/>
            <a:ext cx="4069080" cy="5257800"/>
          </a:xfrm>
          <a:prstGeom prst="rect">
            <a:avLst/>
          </a:prstGeom>
          <a:noFill/>
        </p:spPr>
        <p:txBody>
          <a:bodyPr wrap="square" lIns="50800" rIns="50800">
            <a:spAutoFit/>
          </a:bodyPr>
          <a:lstStyle/>
          <a:p>
            <a:pPr marL="254000" indent="-203200">
              <a:lnSpc>
                <a:spcPct val="105000"/>
              </a:lnSpc>
              <a:spcAft>
                <a:spcPts val="1000"/>
              </a:spcAft>
              <a:defRPr sz="1700">
                <a:solidFill>
                  <a:srgbClr val="1F2937"/>
                </a:solidFill>
                <a:latin typeface="Aptos"/>
              </a:defRPr>
            </a:pPr>
            <a:r>
              <a:t>•  S0 contains 50,000 synthetic transactions with readable operational fields.</a:t>
            </a:r>
          </a:p>
          <a:p>
            <a:pPr marL="254000" indent="-203200">
              <a:lnSpc>
                <a:spcPct val="105000"/>
              </a:lnSpc>
              <a:spcAft>
                <a:spcPts val="1000"/>
              </a:spcAft>
              <a:defRPr sz="1700">
                <a:solidFill>
                  <a:srgbClr val="1F2937"/>
                </a:solidFill>
                <a:latin typeface="Aptos"/>
              </a:defRPr>
            </a:pPr>
            <a:r>
              <a:t>•  S0 test AP was 0.544017; precision 0.720000, recall 0.400000, F1 0.514286.</a:t>
            </a:r>
          </a:p>
          <a:p>
            <a:pPr marL="254000" indent="-203200">
              <a:lnSpc>
                <a:spcPct val="105000"/>
              </a:lnSpc>
              <a:spcAft>
                <a:spcPts val="1000"/>
              </a:spcAft>
              <a:defRPr sz="1700">
                <a:solidFill>
                  <a:srgbClr val="1F2937"/>
                </a:solidFill>
                <a:latin typeface="Aptos"/>
              </a:defRPr>
            </a:pPr>
            <a:r>
              <a:t>•  The selected explanation set contained 25 above-threshold alerts.</a:t>
            </a:r>
          </a:p>
          <a:p>
            <a:pPr marL="254000" indent="-203200">
              <a:lnSpc>
                <a:spcPct val="105000"/>
              </a:lnSpc>
              <a:spcAft>
                <a:spcPts val="1000"/>
              </a:spcAft>
              <a:defRPr sz="1700">
                <a:solidFill>
                  <a:srgbClr val="1F2937"/>
                </a:solidFill>
                <a:latin typeface="Aptos"/>
              </a:defRPr>
            </a:pPr>
            <a:r>
              <a:t>•  Guarded local-LLM briefs passed validation for 23/25 and fell back for 2/25.</a:t>
            </a:r>
          </a:p>
          <a:p>
            <a:pPr marL="254000" indent="-203200">
              <a:lnSpc>
                <a:spcPct val="105000"/>
              </a:lnSpc>
              <a:spcAft>
                <a:spcPts val="1000"/>
              </a:spcAft>
              <a:defRPr sz="1700">
                <a:solidFill>
                  <a:srgbClr val="1F2937"/>
                </a:solidFill>
                <a:latin typeface="Aptos"/>
              </a:defRPr>
            </a:pPr>
            <a:r>
              <a:t>•  The application presents one source-labelled queue and separates Work from Model Evidence.</a:t>
            </a:r>
          </a:p>
        </p:txBody>
      </p:sp>
      <p:sp>
        <p:nvSpPr>
          <p:cNvPr id="8" name="Rounded Rectangle 7"/>
          <p:cNvSpPr/>
          <p:nvPr/>
        </p:nvSpPr>
        <p:spPr>
          <a:xfrm>
            <a:off x="4983480" y="960120"/>
            <a:ext cx="6355080" cy="5303520"/>
          </a:xfrm>
          <a:prstGeom prst="roundRect">
            <a:avLst/>
          </a:prstGeom>
          <a:solidFill>
            <a:srgbClr val="EFF4F8"/>
          </a:solidFill>
          <a:ln>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workbench_investigation.png"/>
          <p:cNvPicPr>
            <a:picLocks noChangeAspect="1"/>
          </p:cNvPicPr>
          <p:nvPr/>
        </p:nvPicPr>
        <p:blipFill>
          <a:blip r:embed="rId2"/>
          <a:stretch>
            <a:fillRect/>
          </a:stretch>
        </p:blipFill>
        <p:spPr>
          <a:xfrm>
            <a:off x="5349240" y="1152144"/>
            <a:ext cx="5632704" cy="3520440"/>
          </a:xfrm>
          <a:prstGeom prst="rect">
            <a:avLst/>
          </a:prstGeom>
        </p:spPr>
      </p:pic>
      <p:sp>
        <p:nvSpPr>
          <p:cNvPr id="10" name="Rounded Rectangle 9"/>
          <p:cNvSpPr/>
          <p:nvPr/>
        </p:nvSpPr>
        <p:spPr>
          <a:xfrm>
            <a:off x="5303520" y="4919472"/>
            <a:ext cx="1691640" cy="749808"/>
          </a:xfrm>
          <a:prstGeom prst="roundRect">
            <a:avLst/>
          </a:prstGeom>
          <a:solidFill>
            <a:srgbClr val="EFF4F8"/>
          </a:solidFill>
          <a:ln>
            <a:solidFill>
              <a:srgbClr val="CD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49824" y="5047488"/>
            <a:ext cx="1399032" cy="292608"/>
          </a:xfrm>
          <a:prstGeom prst="rect">
            <a:avLst/>
          </a:prstGeom>
          <a:noFill/>
        </p:spPr>
        <p:txBody>
          <a:bodyPr wrap="none" lIns="25400" rIns="25400" tIns="12700" bIns="12700" anchor="t">
            <a:spAutoFit/>
          </a:bodyPr>
          <a:lstStyle/>
          <a:p>
            <a:pPr algn="l"/>
            <a:r>
              <a:rPr sz="1100" b="1">
                <a:solidFill>
                  <a:srgbClr val="2463AB"/>
                </a:solidFill>
                <a:latin typeface="Aptos"/>
              </a:rPr>
              <a:t>Evidence</a:t>
            </a:r>
          </a:p>
        </p:txBody>
      </p:sp>
      <p:sp>
        <p:nvSpPr>
          <p:cNvPr id="12" name="TextBox 11"/>
          <p:cNvSpPr txBox="1"/>
          <p:nvPr/>
        </p:nvSpPr>
        <p:spPr>
          <a:xfrm>
            <a:off x="5449824" y="5413248"/>
            <a:ext cx="1399032" cy="128016"/>
          </a:xfrm>
          <a:prstGeom prst="rect">
            <a:avLst/>
          </a:prstGeom>
          <a:noFill/>
        </p:spPr>
        <p:txBody>
          <a:bodyPr wrap="none" lIns="25400" rIns="25400" tIns="12700" bIns="12700" anchor="t">
            <a:spAutoFit/>
          </a:bodyPr>
          <a:lstStyle/>
          <a:p>
            <a:pPr algn="l"/>
            <a:r>
              <a:rPr sz="800" b="0">
                <a:solidFill>
                  <a:srgbClr val="1F2937"/>
                </a:solidFill>
                <a:latin typeface="Aptos"/>
              </a:rPr>
              <a:t>SHAP + deterministic brief</a:t>
            </a:r>
          </a:p>
        </p:txBody>
      </p:sp>
      <p:sp>
        <p:nvSpPr>
          <p:cNvPr id="13" name="Rounded Rectangle 12"/>
          <p:cNvSpPr/>
          <p:nvPr/>
        </p:nvSpPr>
        <p:spPr>
          <a:xfrm>
            <a:off x="7223760" y="4919472"/>
            <a:ext cx="1691640" cy="749808"/>
          </a:xfrm>
          <a:prstGeom prst="roundRect">
            <a:avLst/>
          </a:prstGeom>
          <a:solidFill>
            <a:srgbClr val="EFF4F8"/>
          </a:solidFill>
          <a:ln>
            <a:solidFill>
              <a:srgbClr val="CD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70064" y="5047488"/>
            <a:ext cx="1399032" cy="292608"/>
          </a:xfrm>
          <a:prstGeom prst="rect">
            <a:avLst/>
          </a:prstGeom>
          <a:noFill/>
        </p:spPr>
        <p:txBody>
          <a:bodyPr wrap="none" lIns="25400" rIns="25400" tIns="12700" bIns="12700" anchor="t">
            <a:spAutoFit/>
          </a:bodyPr>
          <a:lstStyle/>
          <a:p>
            <a:pPr algn="l"/>
            <a:r>
              <a:rPr sz="1100" b="1">
                <a:solidFill>
                  <a:srgbClr val="107D70"/>
                </a:solidFill>
                <a:latin typeface="Aptos"/>
              </a:rPr>
              <a:t>Validation</a:t>
            </a:r>
          </a:p>
        </p:txBody>
      </p:sp>
      <p:sp>
        <p:nvSpPr>
          <p:cNvPr id="15" name="TextBox 14"/>
          <p:cNvSpPr txBox="1"/>
          <p:nvPr/>
        </p:nvSpPr>
        <p:spPr>
          <a:xfrm>
            <a:off x="7370064" y="5413248"/>
            <a:ext cx="1399032" cy="128016"/>
          </a:xfrm>
          <a:prstGeom prst="rect">
            <a:avLst/>
          </a:prstGeom>
          <a:noFill/>
        </p:spPr>
        <p:txBody>
          <a:bodyPr wrap="none" lIns="25400" rIns="25400" tIns="12700" bIns="12700" anchor="t">
            <a:spAutoFit/>
          </a:bodyPr>
          <a:lstStyle/>
          <a:p>
            <a:pPr algn="l"/>
            <a:r>
              <a:rPr sz="800" b="0">
                <a:solidFill>
                  <a:srgbClr val="1F2937"/>
                </a:solidFill>
                <a:latin typeface="Aptos"/>
              </a:rPr>
              <a:t>pass/fallback is visible</a:t>
            </a:r>
          </a:p>
        </p:txBody>
      </p:sp>
      <p:sp>
        <p:nvSpPr>
          <p:cNvPr id="16" name="Rounded Rectangle 15"/>
          <p:cNvSpPr/>
          <p:nvPr/>
        </p:nvSpPr>
        <p:spPr>
          <a:xfrm>
            <a:off x="9144000" y="4919472"/>
            <a:ext cx="1691640" cy="749808"/>
          </a:xfrm>
          <a:prstGeom prst="roundRect">
            <a:avLst/>
          </a:prstGeom>
          <a:solidFill>
            <a:srgbClr val="EFF4F8"/>
          </a:solidFill>
          <a:ln>
            <a:solidFill>
              <a:srgbClr val="CD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90304" y="5047488"/>
            <a:ext cx="1399032" cy="292608"/>
          </a:xfrm>
          <a:prstGeom prst="rect">
            <a:avLst/>
          </a:prstGeom>
          <a:noFill/>
        </p:spPr>
        <p:txBody>
          <a:bodyPr wrap="none" lIns="25400" rIns="25400" tIns="12700" bIns="12700" anchor="t">
            <a:spAutoFit/>
          </a:bodyPr>
          <a:lstStyle/>
          <a:p>
            <a:pPr algn="l"/>
            <a:r>
              <a:rPr sz="1100" b="1">
                <a:solidFill>
                  <a:srgbClr val="CA7736"/>
                </a:solidFill>
                <a:latin typeface="Aptos"/>
              </a:rPr>
              <a:t>Analyst action</a:t>
            </a:r>
          </a:p>
        </p:txBody>
      </p:sp>
      <p:sp>
        <p:nvSpPr>
          <p:cNvPr id="18" name="TextBox 17"/>
          <p:cNvSpPr txBox="1"/>
          <p:nvPr/>
        </p:nvSpPr>
        <p:spPr>
          <a:xfrm>
            <a:off x="9290304" y="5413248"/>
            <a:ext cx="1399032" cy="128016"/>
          </a:xfrm>
          <a:prstGeom prst="rect">
            <a:avLst/>
          </a:prstGeom>
          <a:noFill/>
        </p:spPr>
        <p:txBody>
          <a:bodyPr wrap="none" lIns="25400" rIns="25400" tIns="12700" bIns="12700" anchor="t">
            <a:spAutoFit/>
          </a:bodyPr>
          <a:lstStyle/>
          <a:p>
            <a:pPr algn="l"/>
            <a:r>
              <a:rPr sz="800" b="0">
                <a:solidFill>
                  <a:srgbClr val="1F2937"/>
                </a:solidFill>
                <a:latin typeface="Aptos"/>
              </a:rPr>
              <a:t>local workflow state only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49808"/>
          </a:xfrm>
          <a:prstGeom prst="rect">
            <a:avLst/>
          </a:prstGeom>
          <a:solidFill>
            <a:srgbClr val="10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698480" cy="402336"/>
          </a:xfrm>
          <a:prstGeom prst="rect">
            <a:avLst/>
          </a:prstGeom>
          <a:noFill/>
        </p:spPr>
        <p:txBody>
          <a:bodyPr wrap="none" lIns="25400" rIns="25400" tIns="12700" bIns="12700" anchor="t">
            <a:spAutoFit/>
          </a:bodyPr>
          <a:lstStyle/>
          <a:p>
            <a:pPr algn="l"/>
            <a:r>
              <a:rPr sz="2400" b="1">
                <a:solidFill>
                  <a:srgbClr val="FFFFFF"/>
                </a:solidFill>
                <a:latin typeface="Aptos"/>
              </a:rPr>
              <a:t>What the LLM Added and Lost</a:t>
            </a:r>
          </a:p>
        </p:txBody>
      </p:sp>
      <p:sp>
        <p:nvSpPr>
          <p:cNvPr id="4" name="TextBox 3"/>
          <p:cNvSpPr txBox="1"/>
          <p:nvPr/>
        </p:nvSpPr>
        <p:spPr>
          <a:xfrm>
            <a:off x="11292840" y="173736"/>
            <a:ext cx="384048" cy="347472"/>
          </a:xfrm>
          <a:prstGeom prst="rect">
            <a:avLst/>
          </a:prstGeom>
          <a:noFill/>
        </p:spPr>
        <p:txBody>
          <a:bodyPr wrap="none" lIns="25400" rIns="25400" tIns="12700" bIns="12700" anchor="t">
            <a:spAutoFit/>
          </a:bodyPr>
          <a:lstStyle/>
          <a:p>
            <a:pPr algn="r"/>
            <a:r>
              <a:rPr sz="1500" b="1">
                <a:solidFill>
                  <a:srgbClr val="FFFFFF"/>
                </a:solidFill>
                <a:latin typeface="Aptos"/>
              </a:rPr>
              <a:t>10</a:t>
            </a:r>
          </a:p>
        </p:txBody>
      </p:sp>
      <p:sp>
        <p:nvSpPr>
          <p:cNvPr id="5" name="Rectangle 4"/>
          <p:cNvSpPr/>
          <p:nvPr/>
        </p:nvSpPr>
        <p:spPr>
          <a:xfrm>
            <a:off x="502920" y="6556248"/>
            <a:ext cx="11155680" cy="12700"/>
          </a:xfrm>
          <a:prstGeom prst="rect">
            <a:avLst/>
          </a:prstGeom>
          <a:solidFill>
            <a:srgbClr val="D1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601968"/>
            <a:ext cx="5303520" cy="182880"/>
          </a:xfrm>
          <a:prstGeom prst="rect">
            <a:avLst/>
          </a:prstGeom>
          <a:noFill/>
        </p:spPr>
        <p:txBody>
          <a:bodyPr wrap="none" lIns="25400" rIns="25400" tIns="12700" bIns="12700" anchor="t">
            <a:spAutoFit/>
          </a:bodyPr>
          <a:lstStyle/>
          <a:p>
            <a:pPr algn="l"/>
            <a:r>
              <a:rPr sz="900" b="0">
                <a:solidFill>
                  <a:srgbClr val="5C6979"/>
                </a:solidFill>
                <a:latin typeface="Aptos"/>
              </a:rPr>
              <a:t>Evidence-grounded local-LLM fraud alert review</a:t>
            </a:r>
          </a:p>
        </p:txBody>
      </p:sp>
      <p:sp>
        <p:nvSpPr>
          <p:cNvPr id="7" name="TextBox 6"/>
          <p:cNvSpPr txBox="1"/>
          <p:nvPr/>
        </p:nvSpPr>
        <p:spPr>
          <a:xfrm>
            <a:off x="594360" y="914400"/>
            <a:ext cx="4892040" cy="3794760"/>
          </a:xfrm>
          <a:prstGeom prst="rect">
            <a:avLst/>
          </a:prstGeom>
          <a:noFill/>
        </p:spPr>
        <p:txBody>
          <a:bodyPr wrap="square" lIns="50800" rIns="50800">
            <a:spAutoFit/>
          </a:bodyPr>
          <a:lstStyle/>
          <a:p>
            <a:pPr marL="254000" indent="-203200">
              <a:lnSpc>
                <a:spcPct val="105000"/>
              </a:lnSpc>
              <a:spcAft>
                <a:spcPts val="1000"/>
              </a:spcAft>
              <a:defRPr sz="1800">
                <a:solidFill>
                  <a:srgbClr val="1F2937"/>
                </a:solidFill>
                <a:latin typeface="Aptos"/>
              </a:defRPr>
            </a:pPr>
            <a:r>
              <a:t>•  The deterministic S0 brief preserved all three evidence items.</a:t>
            </a:r>
          </a:p>
          <a:p>
            <a:pPr marL="254000" indent="-203200">
              <a:lnSpc>
                <a:spcPct val="105000"/>
              </a:lnSpc>
              <a:spcAft>
                <a:spcPts val="1000"/>
              </a:spcAft>
              <a:defRPr sz="1800">
                <a:solidFill>
                  <a:srgbClr val="1F2937"/>
                </a:solidFill>
                <a:latin typeface="Aptos"/>
              </a:defRPr>
            </a:pPr>
            <a:r>
              <a:t>•  All 23 accepted guarded-LLM summaries selected the shorter permitted option.</a:t>
            </a:r>
          </a:p>
          <a:p>
            <a:pPr marL="254000" indent="-203200">
              <a:lnSpc>
                <a:spcPct val="105000"/>
              </a:lnSpc>
              <a:spcAft>
                <a:spcPts val="1000"/>
              </a:spcAft>
              <a:defRPr sz="1800">
                <a:solidFill>
                  <a:srgbClr val="1F2937"/>
                </a:solidFill>
                <a:latin typeface="Aptos"/>
              </a:defRPr>
            </a:pPr>
            <a:r>
              <a:t>•  Accepted guarded summaries averaged 12 words and one named evidence item.</a:t>
            </a:r>
          </a:p>
          <a:p>
            <a:pPr marL="254000" indent="-203200">
              <a:lnSpc>
                <a:spcPct val="105000"/>
              </a:lnSpc>
              <a:spcAft>
                <a:spcPts val="1000"/>
              </a:spcAft>
              <a:defRPr sz="1800">
                <a:solidFill>
                  <a:srgbClr val="1F2937"/>
                </a:solidFill>
                <a:latin typeface="Aptos"/>
              </a:defRPr>
            </a:pPr>
            <a:r>
              <a:t>•  Deterministic briefs averaged 39.09 words and three named evidence items.</a:t>
            </a:r>
          </a:p>
          <a:p>
            <a:pPr marL="254000" indent="-203200">
              <a:lnSpc>
                <a:spcPct val="105000"/>
              </a:lnSpc>
              <a:spcAft>
                <a:spcPts val="1000"/>
              </a:spcAft>
              <a:defRPr sz="1800">
                <a:solidFill>
                  <a:srgbClr val="1F2937"/>
                </a:solidFill>
                <a:latin typeface="Aptos"/>
              </a:defRPr>
            </a:pPr>
            <a:r>
              <a:t>•  Participants more often selected the LLM brief as clearest, but it did not add evidence detail.</a:t>
            </a:r>
          </a:p>
        </p:txBody>
      </p:sp>
      <p:sp>
        <p:nvSpPr>
          <p:cNvPr id="8" name="Rounded Rectangle 7"/>
          <p:cNvSpPr/>
          <p:nvPr/>
        </p:nvSpPr>
        <p:spPr>
          <a:xfrm>
            <a:off x="658368" y="4892040"/>
            <a:ext cx="2057400" cy="1051560"/>
          </a:xfrm>
          <a:prstGeom prst="roundRect">
            <a:avLst/>
          </a:prstGeom>
          <a:solidFill>
            <a:srgbClr val="EFF4F8"/>
          </a:solidFill>
          <a:ln>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5001768"/>
            <a:ext cx="1837944" cy="384048"/>
          </a:xfrm>
          <a:prstGeom prst="rect">
            <a:avLst/>
          </a:prstGeom>
          <a:noFill/>
        </p:spPr>
        <p:txBody>
          <a:bodyPr wrap="none" lIns="25400" rIns="25400" tIns="12700" bIns="12700" anchor="t">
            <a:spAutoFit/>
          </a:bodyPr>
          <a:lstStyle/>
          <a:p>
            <a:pPr algn="l"/>
            <a:r>
              <a:rPr sz="2300" b="1">
                <a:solidFill>
                  <a:srgbClr val="2463AB"/>
                </a:solidFill>
                <a:latin typeface="Aptos"/>
              </a:rPr>
              <a:t>39.09</a:t>
            </a:r>
          </a:p>
        </p:txBody>
      </p:sp>
      <p:sp>
        <p:nvSpPr>
          <p:cNvPr id="10" name="TextBox 9"/>
          <p:cNvSpPr txBox="1"/>
          <p:nvPr/>
        </p:nvSpPr>
        <p:spPr>
          <a:xfrm>
            <a:off x="768096" y="5422392"/>
            <a:ext cx="1837944" cy="457200"/>
          </a:xfrm>
          <a:prstGeom prst="rect">
            <a:avLst/>
          </a:prstGeom>
          <a:noFill/>
        </p:spPr>
        <p:txBody>
          <a:bodyPr wrap="none" lIns="25400" rIns="25400" tIns="12700" bIns="12700" anchor="t">
            <a:spAutoFit/>
          </a:bodyPr>
          <a:lstStyle/>
          <a:p>
            <a:pPr algn="l"/>
            <a:r>
              <a:rPr sz="1100" b="0">
                <a:solidFill>
                  <a:srgbClr val="5C6979"/>
                </a:solidFill>
                <a:latin typeface="Aptos"/>
              </a:rPr>
              <a:t>words | 3 evidence items</a:t>
            </a:r>
          </a:p>
        </p:txBody>
      </p:sp>
      <p:sp>
        <p:nvSpPr>
          <p:cNvPr id="11" name="Rounded Rectangle 10"/>
          <p:cNvSpPr/>
          <p:nvPr/>
        </p:nvSpPr>
        <p:spPr>
          <a:xfrm>
            <a:off x="2880360" y="4892040"/>
            <a:ext cx="2057400" cy="1051560"/>
          </a:xfrm>
          <a:prstGeom prst="roundRect">
            <a:avLst/>
          </a:prstGeom>
          <a:solidFill>
            <a:srgbClr val="EFF4F8"/>
          </a:solidFill>
          <a:ln>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90088" y="5001768"/>
            <a:ext cx="1837944" cy="384048"/>
          </a:xfrm>
          <a:prstGeom prst="rect">
            <a:avLst/>
          </a:prstGeom>
          <a:noFill/>
        </p:spPr>
        <p:txBody>
          <a:bodyPr wrap="none" lIns="25400" rIns="25400" tIns="12700" bIns="12700" anchor="t">
            <a:spAutoFit/>
          </a:bodyPr>
          <a:lstStyle/>
          <a:p>
            <a:pPr algn="l"/>
            <a:r>
              <a:rPr sz="2300" b="1">
                <a:solidFill>
                  <a:srgbClr val="107D70"/>
                </a:solidFill>
                <a:latin typeface="Aptos"/>
              </a:rPr>
              <a:t>12.00</a:t>
            </a:r>
          </a:p>
        </p:txBody>
      </p:sp>
      <p:sp>
        <p:nvSpPr>
          <p:cNvPr id="13" name="TextBox 12"/>
          <p:cNvSpPr txBox="1"/>
          <p:nvPr/>
        </p:nvSpPr>
        <p:spPr>
          <a:xfrm>
            <a:off x="2990088" y="5422392"/>
            <a:ext cx="1837944" cy="457200"/>
          </a:xfrm>
          <a:prstGeom prst="rect">
            <a:avLst/>
          </a:prstGeom>
          <a:noFill/>
        </p:spPr>
        <p:txBody>
          <a:bodyPr wrap="none" lIns="25400" rIns="25400" tIns="12700" bIns="12700" anchor="t">
            <a:spAutoFit/>
          </a:bodyPr>
          <a:lstStyle/>
          <a:p>
            <a:pPr algn="l"/>
            <a:r>
              <a:rPr sz="1100" b="0">
                <a:solidFill>
                  <a:srgbClr val="5C6979"/>
                </a:solidFill>
                <a:latin typeface="Aptos"/>
              </a:rPr>
              <a:t>words | 1 evidence item</a:t>
            </a:r>
          </a:p>
        </p:txBody>
      </p:sp>
      <p:pic>
        <p:nvPicPr>
          <p:cNvPr id="14" name="Picture 13" descr="semantic_explanation_assurance.png"/>
          <p:cNvPicPr>
            <a:picLocks noChangeAspect="1"/>
          </p:cNvPicPr>
          <p:nvPr/>
        </p:nvPicPr>
        <p:blipFill>
          <a:blip r:embed="rId2"/>
          <a:stretch>
            <a:fillRect/>
          </a:stretch>
        </p:blipFill>
        <p:spPr>
          <a:xfrm>
            <a:off x="5669280" y="1727307"/>
            <a:ext cx="5989320" cy="3714281"/>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49808"/>
          </a:xfrm>
          <a:prstGeom prst="rect">
            <a:avLst/>
          </a:prstGeom>
          <a:solidFill>
            <a:srgbClr val="10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698480" cy="402336"/>
          </a:xfrm>
          <a:prstGeom prst="rect">
            <a:avLst/>
          </a:prstGeom>
          <a:noFill/>
        </p:spPr>
        <p:txBody>
          <a:bodyPr wrap="none" lIns="25400" rIns="25400" tIns="12700" bIns="12700" anchor="t">
            <a:spAutoFit/>
          </a:bodyPr>
          <a:lstStyle/>
          <a:p>
            <a:pPr algn="l"/>
            <a:r>
              <a:rPr sz="2400" b="1">
                <a:solidFill>
                  <a:srgbClr val="FFFFFF"/>
                </a:solidFill>
                <a:latin typeface="Aptos"/>
              </a:rPr>
              <a:t>Human Evaluation: What People Preferred</a:t>
            </a:r>
          </a:p>
        </p:txBody>
      </p:sp>
      <p:sp>
        <p:nvSpPr>
          <p:cNvPr id="4" name="TextBox 3"/>
          <p:cNvSpPr txBox="1"/>
          <p:nvPr/>
        </p:nvSpPr>
        <p:spPr>
          <a:xfrm>
            <a:off x="11292840" y="173736"/>
            <a:ext cx="384048" cy="347472"/>
          </a:xfrm>
          <a:prstGeom prst="rect">
            <a:avLst/>
          </a:prstGeom>
          <a:noFill/>
        </p:spPr>
        <p:txBody>
          <a:bodyPr wrap="none" lIns="25400" rIns="25400" tIns="12700" bIns="12700" anchor="t">
            <a:spAutoFit/>
          </a:bodyPr>
          <a:lstStyle/>
          <a:p>
            <a:pPr algn="r"/>
            <a:r>
              <a:rPr sz="1500" b="1">
                <a:solidFill>
                  <a:srgbClr val="FFFFFF"/>
                </a:solidFill>
                <a:latin typeface="Aptos"/>
              </a:rPr>
              <a:t>11</a:t>
            </a:r>
          </a:p>
        </p:txBody>
      </p:sp>
      <p:sp>
        <p:nvSpPr>
          <p:cNvPr id="5" name="Rectangle 4"/>
          <p:cNvSpPr/>
          <p:nvPr/>
        </p:nvSpPr>
        <p:spPr>
          <a:xfrm>
            <a:off x="502920" y="6556248"/>
            <a:ext cx="11155680" cy="12700"/>
          </a:xfrm>
          <a:prstGeom prst="rect">
            <a:avLst/>
          </a:prstGeom>
          <a:solidFill>
            <a:srgbClr val="D1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601968"/>
            <a:ext cx="5303520" cy="182880"/>
          </a:xfrm>
          <a:prstGeom prst="rect">
            <a:avLst/>
          </a:prstGeom>
          <a:noFill/>
        </p:spPr>
        <p:txBody>
          <a:bodyPr wrap="none" lIns="25400" rIns="25400" tIns="12700" bIns="12700" anchor="t">
            <a:spAutoFit/>
          </a:bodyPr>
          <a:lstStyle/>
          <a:p>
            <a:pPr algn="l"/>
            <a:r>
              <a:rPr sz="900" b="0">
                <a:solidFill>
                  <a:srgbClr val="5C6979"/>
                </a:solidFill>
                <a:latin typeface="Aptos"/>
              </a:rPr>
              <a:t>Evidence-grounded local-LLM fraud alert review</a:t>
            </a:r>
          </a:p>
        </p:txBody>
      </p:sp>
      <p:sp>
        <p:nvSpPr>
          <p:cNvPr id="7" name="TextBox 6"/>
          <p:cNvSpPr txBox="1"/>
          <p:nvPr/>
        </p:nvSpPr>
        <p:spPr>
          <a:xfrm>
            <a:off x="594360" y="914400"/>
            <a:ext cx="3840480" cy="5257800"/>
          </a:xfrm>
          <a:prstGeom prst="rect">
            <a:avLst/>
          </a:prstGeom>
          <a:noFill/>
        </p:spPr>
        <p:txBody>
          <a:bodyPr wrap="square" lIns="50800" rIns="50800">
            <a:spAutoFit/>
          </a:bodyPr>
          <a:lstStyle/>
          <a:p>
            <a:pPr marL="254000" indent="-203200">
              <a:lnSpc>
                <a:spcPct val="105000"/>
              </a:lnSpc>
              <a:spcAft>
                <a:spcPts val="1000"/>
              </a:spcAft>
              <a:defRPr sz="1700">
                <a:solidFill>
                  <a:srgbClr val="1F2937"/>
                </a:solidFill>
                <a:latin typeface="Aptos"/>
              </a:defRPr>
            </a:pPr>
            <a:r>
              <a:t>•  Eleven proxy reviewers completed 99 case reviews.</a:t>
            </a:r>
          </a:p>
          <a:p>
            <a:pPr marL="254000" indent="-203200">
              <a:lnSpc>
                <a:spcPct val="105000"/>
              </a:lnSpc>
              <a:spcAft>
                <a:spcPts val="1000"/>
              </a:spcAft>
              <a:defRPr sz="1700">
                <a:solidFill>
                  <a:srgbClr val="1F2937"/>
                </a:solidFill>
                <a:latin typeface="Aptos"/>
              </a:defRPr>
            </a:pPr>
            <a:r>
              <a:t>•  Accuracy did not favour the guarded LLM brief on any comprehension check.</a:t>
            </a:r>
          </a:p>
          <a:p>
            <a:pPr marL="254000" indent="-203200">
              <a:lnSpc>
                <a:spcPct val="105000"/>
              </a:lnSpc>
              <a:spcAft>
                <a:spcPts val="1000"/>
              </a:spcAft>
              <a:defRPr sz="1700">
                <a:solidFill>
                  <a:srgbClr val="1F2937"/>
                </a:solidFill>
                <a:latin typeface="Aptos"/>
              </a:defRPr>
            </a:pPr>
            <a:r>
              <a:t>•  Median clarity was 4/5 for all three formats.</a:t>
            </a:r>
          </a:p>
          <a:p>
            <a:pPr marL="254000" indent="-203200">
              <a:lnSpc>
                <a:spcPct val="105000"/>
              </a:lnSpc>
              <a:spcAft>
                <a:spcPts val="1000"/>
              </a:spcAft>
              <a:defRPr sz="1700">
                <a:solidFill>
                  <a:srgbClr val="1F2937"/>
                </a:solidFill>
                <a:latin typeface="Aptos"/>
              </a:defRPr>
            </a:pPr>
            <a:r>
              <a:t>•  Guarded LLM brief was selected as clearest and preferred first-pass format by 7/11.</a:t>
            </a:r>
          </a:p>
          <a:p>
            <a:pPr marL="254000" indent="-203200">
              <a:lnSpc>
                <a:spcPct val="105000"/>
              </a:lnSpc>
              <a:spcAft>
                <a:spcPts val="1000"/>
              </a:spcAft>
              <a:defRPr sz="1700">
                <a:solidFill>
                  <a:srgbClr val="1F2937"/>
                </a:solidFill>
                <a:latin typeface="Aptos"/>
              </a:defRPr>
            </a:pPr>
            <a:r>
              <a:t>•  Deterministic brief was selected as most trustworthy by 6/11.</a:t>
            </a:r>
          </a:p>
          <a:p>
            <a:pPr marL="254000" indent="-203200">
              <a:lnSpc>
                <a:spcPct val="105000"/>
              </a:lnSpc>
              <a:spcAft>
                <a:spcPts val="1000"/>
              </a:spcAft>
              <a:defRPr sz="1700">
                <a:solidFill>
                  <a:srgbClr val="1F2937"/>
                </a:solidFill>
                <a:latin typeface="Aptos"/>
              </a:defRPr>
            </a:pPr>
            <a:r>
              <a:t>•  Interpretation: readability preference did not equal stronger evidence understanding.</a:t>
            </a:r>
          </a:p>
        </p:txBody>
      </p:sp>
      <p:pic>
        <p:nvPicPr>
          <p:cNvPr id="8" name="Picture 7" descr="human_eval_outcomes.png"/>
          <p:cNvPicPr>
            <a:picLocks noChangeAspect="1"/>
          </p:cNvPicPr>
          <p:nvPr/>
        </p:nvPicPr>
        <p:blipFill>
          <a:blip r:embed="rId2"/>
          <a:stretch>
            <a:fillRect/>
          </a:stretch>
        </p:blipFill>
        <p:spPr>
          <a:xfrm>
            <a:off x="4708884" y="932688"/>
            <a:ext cx="6812830" cy="2788920"/>
          </a:xfrm>
          <a:prstGeom prst="rect">
            <a:avLst/>
          </a:prstGeom>
        </p:spPr>
      </p:pic>
      <p:pic>
        <p:nvPicPr>
          <p:cNvPr id="9" name="Picture 8" descr="human_eval_preferences.png"/>
          <p:cNvPicPr>
            <a:picLocks noChangeAspect="1"/>
          </p:cNvPicPr>
          <p:nvPr/>
        </p:nvPicPr>
        <p:blipFill>
          <a:blip r:embed="rId3"/>
          <a:stretch>
            <a:fillRect/>
          </a:stretch>
        </p:blipFill>
        <p:spPr>
          <a:xfrm>
            <a:off x="5857093" y="3767328"/>
            <a:ext cx="4516413" cy="233172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49808"/>
          </a:xfrm>
          <a:prstGeom prst="rect">
            <a:avLst/>
          </a:prstGeom>
          <a:solidFill>
            <a:srgbClr val="10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4592"/>
            <a:ext cx="10698480" cy="402336"/>
          </a:xfrm>
          <a:prstGeom prst="rect">
            <a:avLst/>
          </a:prstGeom>
          <a:noFill/>
        </p:spPr>
        <p:txBody>
          <a:bodyPr wrap="none" lIns="25400" rIns="25400" tIns="12700" bIns="12700" anchor="t">
            <a:spAutoFit/>
          </a:bodyPr>
          <a:lstStyle/>
          <a:p>
            <a:pPr algn="l"/>
            <a:r>
              <a:rPr sz="2400" b="1">
                <a:solidFill>
                  <a:srgbClr val="FFFFFF"/>
                </a:solidFill>
                <a:latin typeface="Aptos"/>
              </a:rPr>
              <a:t>Conclusion, Limitations, and Next Work</a:t>
            </a:r>
          </a:p>
        </p:txBody>
      </p:sp>
      <p:sp>
        <p:nvSpPr>
          <p:cNvPr id="4" name="TextBox 3"/>
          <p:cNvSpPr txBox="1"/>
          <p:nvPr/>
        </p:nvSpPr>
        <p:spPr>
          <a:xfrm>
            <a:off x="11292840" y="173736"/>
            <a:ext cx="384048" cy="347472"/>
          </a:xfrm>
          <a:prstGeom prst="rect">
            <a:avLst/>
          </a:prstGeom>
          <a:noFill/>
        </p:spPr>
        <p:txBody>
          <a:bodyPr wrap="none" lIns="25400" rIns="25400" tIns="12700" bIns="12700" anchor="t">
            <a:spAutoFit/>
          </a:bodyPr>
          <a:lstStyle/>
          <a:p>
            <a:pPr algn="r"/>
            <a:r>
              <a:rPr sz="1500" b="1">
                <a:solidFill>
                  <a:srgbClr val="FFFFFF"/>
                </a:solidFill>
                <a:latin typeface="Aptos"/>
              </a:rPr>
              <a:t>12</a:t>
            </a:r>
          </a:p>
        </p:txBody>
      </p:sp>
      <p:sp>
        <p:nvSpPr>
          <p:cNvPr id="5" name="Rectangle 4"/>
          <p:cNvSpPr/>
          <p:nvPr/>
        </p:nvSpPr>
        <p:spPr>
          <a:xfrm>
            <a:off x="502920" y="6556248"/>
            <a:ext cx="11155680" cy="12700"/>
          </a:xfrm>
          <a:prstGeom prst="rect">
            <a:avLst/>
          </a:prstGeom>
          <a:solidFill>
            <a:srgbClr val="D1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6601968"/>
            <a:ext cx="5303520" cy="182880"/>
          </a:xfrm>
          <a:prstGeom prst="rect">
            <a:avLst/>
          </a:prstGeom>
          <a:noFill/>
        </p:spPr>
        <p:txBody>
          <a:bodyPr wrap="none" lIns="25400" rIns="25400" tIns="12700" bIns="12700" anchor="t">
            <a:spAutoFit/>
          </a:bodyPr>
          <a:lstStyle/>
          <a:p>
            <a:pPr algn="l"/>
            <a:r>
              <a:rPr sz="900" b="0">
                <a:solidFill>
                  <a:srgbClr val="5C6979"/>
                </a:solidFill>
                <a:latin typeface="Aptos"/>
              </a:rPr>
              <a:t>Evidence-grounded local-LLM fraud alert review</a:t>
            </a:r>
          </a:p>
        </p:txBody>
      </p:sp>
      <p:sp>
        <p:nvSpPr>
          <p:cNvPr id="7" name="TextBox 6"/>
          <p:cNvSpPr txBox="1"/>
          <p:nvPr/>
        </p:nvSpPr>
        <p:spPr>
          <a:xfrm>
            <a:off x="594360" y="914400"/>
            <a:ext cx="6446520" cy="5257800"/>
          </a:xfrm>
          <a:prstGeom prst="rect">
            <a:avLst/>
          </a:prstGeom>
          <a:noFill/>
        </p:spPr>
        <p:txBody>
          <a:bodyPr wrap="square" lIns="50800" rIns="50800">
            <a:spAutoFit/>
          </a:bodyPr>
          <a:lstStyle/>
          <a:p>
            <a:pPr marL="254000" indent="-203200">
              <a:lnSpc>
                <a:spcPct val="105000"/>
              </a:lnSpc>
              <a:spcAft>
                <a:spcPts val="1000"/>
              </a:spcAft>
              <a:defRPr sz="1700">
                <a:solidFill>
                  <a:srgbClr val="1F2937"/>
                </a:solidFill>
                <a:latin typeface="Aptos"/>
              </a:defRPr>
            </a:pPr>
            <a:r>
              <a:t>•  Main contribution: a provenance-linked fail-closed delivery boundary for local-LLM fraud-alert briefs.</a:t>
            </a:r>
          </a:p>
          <a:p>
            <a:pPr marL="254000" indent="-203200">
              <a:lnSpc>
                <a:spcPct val="105000"/>
              </a:lnSpc>
              <a:spcAft>
                <a:spcPts val="1000"/>
              </a:spcAft>
              <a:defRPr sz="1700">
                <a:solidFill>
                  <a:srgbClr val="1F2937"/>
                </a:solidFill>
                <a:latin typeface="Aptos"/>
              </a:defRPr>
            </a:pPr>
            <a:r>
              <a:t>•  Detector result: autoencoder features did not show a clear advantage over baseline.</a:t>
            </a:r>
          </a:p>
          <a:p>
            <a:pPr marL="254000" indent="-203200">
              <a:lnSpc>
                <a:spcPct val="105000"/>
              </a:lnSpc>
              <a:spcAft>
                <a:spcPts val="1000"/>
              </a:spcAft>
              <a:defRPr sz="1700">
                <a:solidFill>
                  <a:srgbClr val="1F2937"/>
                </a:solidFill>
                <a:latin typeface="Aptos"/>
              </a:defRPr>
            </a:pPr>
            <a:r>
              <a:t>•  Explanation result: guardrails can measure and block detected violations under tested contracts.</a:t>
            </a:r>
          </a:p>
          <a:p>
            <a:pPr marL="254000" indent="-203200">
              <a:lnSpc>
                <a:spcPct val="105000"/>
              </a:lnSpc>
              <a:spcAft>
                <a:spcPts val="1000"/>
              </a:spcAft>
              <a:defRPr sz="1700">
                <a:solidFill>
                  <a:srgbClr val="1F2937"/>
                </a:solidFill>
                <a:latin typeface="Aptos"/>
              </a:defRPr>
            </a:pPr>
            <a:r>
              <a:t>•  Human result: perceived clarity and trust do not fully align.</a:t>
            </a:r>
          </a:p>
          <a:p>
            <a:pPr marL="254000" indent="-203200">
              <a:lnSpc>
                <a:spcPct val="105000"/>
              </a:lnSpc>
              <a:spcAft>
                <a:spcPts val="1000"/>
              </a:spcAft>
              <a:defRPr sz="1700">
                <a:solidFill>
                  <a:srgbClr val="1F2937"/>
                </a:solidFill>
                <a:latin typeface="Aptos"/>
              </a:defRPr>
            </a:pPr>
            <a:r>
              <a:t>•  Societal/environmental relevance: local, minimized, fallback-first design may reduce unsupported explanation exposure and unnecessary model calls.</a:t>
            </a:r>
          </a:p>
          <a:p>
            <a:pPr marL="254000" indent="-203200">
              <a:lnSpc>
                <a:spcPct val="105000"/>
              </a:lnSpc>
              <a:spcAft>
                <a:spcPts val="1000"/>
              </a:spcAft>
              <a:defRPr sz="1700">
                <a:solidFill>
                  <a:srgbClr val="1F2937"/>
                </a:solidFill>
                <a:latin typeface="Aptos"/>
              </a:defRPr>
            </a:pPr>
            <a:r>
              <a:t>•  Next work: independent audit replication, professional analyst study, additional local models, and real interpretable data.</a:t>
            </a:r>
          </a:p>
        </p:txBody>
      </p:sp>
      <p:sp>
        <p:nvSpPr>
          <p:cNvPr id="8" name="Rounded Rectangle 7"/>
          <p:cNvSpPr/>
          <p:nvPr/>
        </p:nvSpPr>
        <p:spPr>
          <a:xfrm>
            <a:off x="7543800" y="1115568"/>
            <a:ext cx="3749039" cy="749808"/>
          </a:xfrm>
          <a:prstGeom prst="roundRect">
            <a:avLst/>
          </a:prstGeom>
          <a:solidFill>
            <a:srgbClr val="24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53528" y="1298448"/>
            <a:ext cx="3520440" cy="320040"/>
          </a:xfrm>
          <a:prstGeom prst="rect">
            <a:avLst/>
          </a:prstGeom>
          <a:noFill/>
        </p:spPr>
        <p:txBody>
          <a:bodyPr wrap="none" lIns="25400" rIns="25400" tIns="12700" bIns="12700" anchor="t">
            <a:spAutoFit/>
          </a:bodyPr>
          <a:lstStyle/>
          <a:p>
            <a:pPr algn="ctr"/>
            <a:r>
              <a:rPr sz="1600" b="1">
                <a:solidFill>
                  <a:srgbClr val="FFFFFF"/>
                </a:solidFill>
                <a:latin typeface="Aptos"/>
              </a:rPr>
              <a:t>MODEL EVIDENCE</a:t>
            </a:r>
          </a:p>
        </p:txBody>
      </p:sp>
      <p:sp>
        <p:nvSpPr>
          <p:cNvPr id="10" name="TextBox 9"/>
          <p:cNvSpPr txBox="1"/>
          <p:nvPr/>
        </p:nvSpPr>
        <p:spPr>
          <a:xfrm>
            <a:off x="9198864" y="1901952"/>
            <a:ext cx="457200" cy="320040"/>
          </a:xfrm>
          <a:prstGeom prst="rect">
            <a:avLst/>
          </a:prstGeom>
          <a:noFill/>
        </p:spPr>
        <p:txBody>
          <a:bodyPr wrap="none" lIns="25400" rIns="25400" tIns="12700" bIns="12700" anchor="t">
            <a:spAutoFit/>
          </a:bodyPr>
          <a:lstStyle/>
          <a:p>
            <a:pPr algn="ctr"/>
            <a:r>
              <a:rPr sz="2200" b="1">
                <a:solidFill>
                  <a:srgbClr val="5C6979"/>
                </a:solidFill>
                <a:latin typeface="Aptos"/>
              </a:rPr>
              <a:t>↓</a:t>
            </a:r>
          </a:p>
        </p:txBody>
      </p:sp>
      <p:sp>
        <p:nvSpPr>
          <p:cNvPr id="11" name="Rounded Rectangle 10"/>
          <p:cNvSpPr/>
          <p:nvPr/>
        </p:nvSpPr>
        <p:spPr>
          <a:xfrm>
            <a:off x="7543800" y="2286000"/>
            <a:ext cx="3749039" cy="749808"/>
          </a:xfrm>
          <a:prstGeom prst="roundRect">
            <a:avLst/>
          </a:prstGeom>
          <a:solidFill>
            <a:srgbClr val="CA77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53528" y="2468880"/>
            <a:ext cx="3520440" cy="320040"/>
          </a:xfrm>
          <a:prstGeom prst="rect">
            <a:avLst/>
          </a:prstGeom>
          <a:noFill/>
        </p:spPr>
        <p:txBody>
          <a:bodyPr wrap="none" lIns="25400" rIns="25400" tIns="12700" bIns="12700" anchor="t">
            <a:spAutoFit/>
          </a:bodyPr>
          <a:lstStyle/>
          <a:p>
            <a:pPr algn="ctr"/>
            <a:r>
              <a:rPr sz="1600" b="1">
                <a:solidFill>
                  <a:srgbClr val="FFFFFF"/>
                </a:solidFill>
                <a:latin typeface="Aptos"/>
              </a:rPr>
              <a:t>OPTIONAL LLM</a:t>
            </a:r>
          </a:p>
        </p:txBody>
      </p:sp>
      <p:sp>
        <p:nvSpPr>
          <p:cNvPr id="13" name="TextBox 12"/>
          <p:cNvSpPr txBox="1"/>
          <p:nvPr/>
        </p:nvSpPr>
        <p:spPr>
          <a:xfrm>
            <a:off x="9198864" y="3072384"/>
            <a:ext cx="457200" cy="320040"/>
          </a:xfrm>
          <a:prstGeom prst="rect">
            <a:avLst/>
          </a:prstGeom>
          <a:noFill/>
        </p:spPr>
        <p:txBody>
          <a:bodyPr wrap="none" lIns="25400" rIns="25400" tIns="12700" bIns="12700" anchor="t">
            <a:spAutoFit/>
          </a:bodyPr>
          <a:lstStyle/>
          <a:p>
            <a:pPr algn="ctr"/>
            <a:r>
              <a:rPr sz="2200" b="1">
                <a:solidFill>
                  <a:srgbClr val="5C6979"/>
                </a:solidFill>
                <a:latin typeface="Aptos"/>
              </a:rPr>
              <a:t>↓</a:t>
            </a:r>
          </a:p>
        </p:txBody>
      </p:sp>
      <p:sp>
        <p:nvSpPr>
          <p:cNvPr id="14" name="Rounded Rectangle 13"/>
          <p:cNvSpPr/>
          <p:nvPr/>
        </p:nvSpPr>
        <p:spPr>
          <a:xfrm>
            <a:off x="7543800" y="3456432"/>
            <a:ext cx="3749039" cy="749808"/>
          </a:xfrm>
          <a:prstGeom prst="roundRect">
            <a:avLst/>
          </a:prstGeom>
          <a:solidFill>
            <a:srgbClr val="107D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53528" y="3639312"/>
            <a:ext cx="3520440" cy="320040"/>
          </a:xfrm>
          <a:prstGeom prst="rect">
            <a:avLst/>
          </a:prstGeom>
          <a:noFill/>
        </p:spPr>
        <p:txBody>
          <a:bodyPr wrap="none" lIns="25400" rIns="25400" tIns="12700" bIns="12700" anchor="t">
            <a:spAutoFit/>
          </a:bodyPr>
          <a:lstStyle/>
          <a:p>
            <a:pPr algn="ctr"/>
            <a:r>
              <a:rPr sz="1600" b="1">
                <a:solidFill>
                  <a:srgbClr val="FFFFFF"/>
                </a:solidFill>
                <a:latin typeface="Aptos"/>
              </a:rPr>
              <a:t>VALIDATOR</a:t>
            </a:r>
          </a:p>
        </p:txBody>
      </p:sp>
      <p:sp>
        <p:nvSpPr>
          <p:cNvPr id="16" name="TextBox 15"/>
          <p:cNvSpPr txBox="1"/>
          <p:nvPr/>
        </p:nvSpPr>
        <p:spPr>
          <a:xfrm>
            <a:off x="9198864" y="4242816"/>
            <a:ext cx="457200" cy="320040"/>
          </a:xfrm>
          <a:prstGeom prst="rect">
            <a:avLst/>
          </a:prstGeom>
          <a:noFill/>
        </p:spPr>
        <p:txBody>
          <a:bodyPr wrap="none" lIns="25400" rIns="25400" tIns="12700" bIns="12700" anchor="t">
            <a:spAutoFit/>
          </a:bodyPr>
          <a:lstStyle/>
          <a:p>
            <a:pPr algn="ctr"/>
            <a:r>
              <a:rPr sz="2200" b="1">
                <a:solidFill>
                  <a:srgbClr val="5C6979"/>
                </a:solidFill>
                <a:latin typeface="Aptos"/>
              </a:rPr>
              <a:t>↓</a:t>
            </a:r>
          </a:p>
        </p:txBody>
      </p:sp>
      <p:sp>
        <p:nvSpPr>
          <p:cNvPr id="17" name="Rounded Rectangle 16"/>
          <p:cNvSpPr/>
          <p:nvPr/>
        </p:nvSpPr>
        <p:spPr>
          <a:xfrm>
            <a:off x="7543800" y="4626864"/>
            <a:ext cx="3749039" cy="749808"/>
          </a:xfrm>
          <a:prstGeom prst="roundRect">
            <a:avLst/>
          </a:prstGeom>
          <a:solidFill>
            <a:srgbClr val="10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53528" y="4809744"/>
            <a:ext cx="3520440" cy="320040"/>
          </a:xfrm>
          <a:prstGeom prst="rect">
            <a:avLst/>
          </a:prstGeom>
          <a:noFill/>
        </p:spPr>
        <p:txBody>
          <a:bodyPr wrap="none" lIns="25400" rIns="25400" tIns="12700" bIns="12700" anchor="t">
            <a:spAutoFit/>
          </a:bodyPr>
          <a:lstStyle/>
          <a:p>
            <a:pPr algn="ctr"/>
            <a:r>
              <a:rPr sz="1600" b="1">
                <a:solidFill>
                  <a:srgbClr val="FFFFFF"/>
                </a:solidFill>
                <a:latin typeface="Aptos"/>
              </a:rPr>
              <a:t>BRIEF OR FALLBACK</a:t>
            </a:r>
          </a:p>
        </p:txBody>
      </p:sp>
      <p:sp>
        <p:nvSpPr>
          <p:cNvPr id="19" name="TextBox 18"/>
          <p:cNvSpPr txBox="1"/>
          <p:nvPr/>
        </p:nvSpPr>
        <p:spPr>
          <a:xfrm>
            <a:off x="7726679" y="5715000"/>
            <a:ext cx="3383280" cy="320040"/>
          </a:xfrm>
          <a:prstGeom prst="rect">
            <a:avLst/>
          </a:prstGeom>
          <a:noFill/>
        </p:spPr>
        <p:txBody>
          <a:bodyPr wrap="none" lIns="25400" rIns="25400" tIns="12700" bIns="12700" anchor="t">
            <a:spAutoFit/>
          </a:bodyPr>
          <a:lstStyle/>
          <a:p>
            <a:pPr algn="ctr"/>
            <a:r>
              <a:rPr sz="1200" b="0">
                <a:solidFill>
                  <a:srgbClr val="5C6979"/>
                </a:solidFill>
                <a:latin typeface="Aptos"/>
              </a:rPr>
              <a:t>Readable text never replaces the evidence layer.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